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72" r:id="rId3"/>
    <p:sldId id="257" r:id="rId4"/>
    <p:sldId id="260" r:id="rId5"/>
    <p:sldId id="258" r:id="rId6"/>
    <p:sldId id="259" r:id="rId7"/>
    <p:sldId id="27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217" autoAdjust="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EA137D-B4E6-4838-945D-35F7E14C4F97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4397AB-0A6C-470B-945A-D4919048F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71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Here, I am going to talk about whole mRNA-seq determined by Illumina analyzer, which are mostly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397AB-0A6C-470B-945A-D4919048F47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225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basic bioinformatics workflow of scRNA-seq is close to population-level mRNA-seq. However, statistics workflow of scRNA-seq is much different due some features of scRNA-seq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397AB-0A6C-470B-945A-D4919048F47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28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workflow of sequence alignment of </a:t>
            </a:r>
            <a:r>
              <a:rPr lang="en-US" dirty="0" err="1"/>
              <a:t>sc</a:t>
            </a:r>
            <a:r>
              <a:rPr lang="en-US" dirty="0"/>
              <a:t>-RNA-seq is similar to  that of population-level RNA-seq.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397AB-0A6C-470B-945A-D4919048F47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320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FB668-A850-4D10-A193-7B9A99812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089E54-67FC-423F-9763-AE4A0290B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E0B1B-B529-419B-B9F4-3F799FD0F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EB71-BB65-47A3-ABBF-F84FBE90AD07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2D3F0-5E6A-4DD0-9BC6-091DCF85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C6737-9287-4D7D-8161-6A1927B10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64E7-D4D2-480E-B252-2E0605BA3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05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043A4-70B7-4888-986B-8F18B9009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7CDD5-A0B6-4C71-BBD3-2FDEC645D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979F6-8F80-4C46-B45D-7674E8C29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EB71-BB65-47A3-ABBF-F84FBE90AD07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AA039-4D5B-4964-AEC5-A5E5FBF3D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AD5D7-54C8-4789-A1D9-E89998E95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64E7-D4D2-480E-B252-2E0605BA3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940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647B6-88AC-4119-81D1-FD97DD9D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7B4D2-C731-4FBF-9899-F8ED56ADA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6F0A2-3E36-450C-B434-E670C928D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EB71-BB65-47A3-ABBF-F84FBE90AD07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89937-2D4F-4286-8BBE-8D80C493F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E94ED-4987-4D0F-8EDD-D0C52769B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64E7-D4D2-480E-B252-2E0605BA3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760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2F226-3BA8-4579-B327-B2B967506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708AC-5631-4082-B286-28647202D4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E65B76-74B0-4391-AA34-DD4FE83F7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6C489-45CE-4FE1-AED7-1360464FF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EB71-BB65-47A3-ABBF-F84FBE90AD07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19AE1-20DD-4F4B-B035-B63C7669D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614DDA-2C64-4D33-B06A-791452B22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64E7-D4D2-480E-B252-2E0605BA3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99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D14AE-706E-4C28-A548-E06CA522E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0B55B-4A09-496A-8D5F-46ED1099E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2C03D-FA36-4C2D-8F7E-D06FC4403D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456CE8-8B2E-49E4-BD9D-F042024601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5A4D86-DD2D-4002-BEC7-13B4B54382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BBDA14-3E80-4BF9-8244-A4D7FAB5C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EB71-BB65-47A3-ABBF-F84FBE90AD07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ED2065-59B4-4C28-960E-A60363110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0CFD01-0C03-414E-B49D-5B46859C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64E7-D4D2-480E-B252-2E0605BA3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953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99E1F-209A-4EA2-B53B-E809827D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DACD35-5B0A-4AFB-A98D-CFABF2026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EB71-BB65-47A3-ABBF-F84FBE90AD07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29A69E-FEF5-43AA-BE67-F19DFA06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CAD68-43B9-481B-A401-6CB4BC78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64E7-D4D2-480E-B252-2E0605BA3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881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66B1F3-2FBF-4674-8288-C1E4D1953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EB71-BB65-47A3-ABBF-F84FBE90AD07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071B89-0340-4172-8669-FF47E5787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95028-674F-4D6D-83C7-5412ABA38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64E7-D4D2-480E-B252-2E0605BA3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98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217C-953E-4E9E-A31C-63E416A4E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0F8EF-4CF5-445F-875B-F3488139A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38119A-2A26-40F8-8485-62BAC7CF3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8F1996-A70B-4368-985C-AE0C8F8C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EB71-BB65-47A3-ABBF-F84FBE90AD07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F811D-54B0-44FA-9289-A69D79325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0E8AA2-4862-4DED-B905-7B3918240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64E7-D4D2-480E-B252-2E0605BA3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982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2CB6C-C926-43EE-9620-5CF5A239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5F1DD8-41E5-4B42-8795-E847B17A92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011560-54FD-4F36-87CF-755FDC6B2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D8E85-2D47-4ECF-92D3-411CBC025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EB71-BB65-47A3-ABBF-F84FBE90AD07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41DAC-9752-4330-9EC2-304ADEDAB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BA6356-0BFB-4CE2-B8CF-6F783A65C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64E7-D4D2-480E-B252-2E0605BA3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66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76A33-4996-44DF-A1BE-4249DD379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92AC29-E1F4-44D1-978D-D96CAEE8C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794AF-E2D1-4629-8205-9DF69B600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EB71-BB65-47A3-ABBF-F84FBE90AD07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BD70C-69F1-475E-B582-C33B07A4B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BF2A4-E372-4C82-BF45-3C207E9A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64E7-D4D2-480E-B252-2E0605BA3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585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34573-3CA5-425D-BF62-300DEC6544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6B021F-6960-4A3C-986A-760127931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79562-F5B9-4890-A696-2F079F74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EB71-BB65-47A3-ABBF-F84FBE90AD07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6DC10-5F73-478B-A6F7-FFBEAE577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40539-5515-4F7C-B9F9-32CDCFBEA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64E7-D4D2-480E-B252-2E0605BA3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13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04134C-1F5B-40FB-BCF9-37129030E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5D096-167B-4FEB-9774-9DE948E56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53070-4D86-4C70-907C-EDF989983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8EB71-BB65-47A3-ABBF-F84FBE90AD07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8B965-6220-4EA0-B210-4886C6F114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80F55-9DE2-4187-BD2E-C7B35704DD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264E7-D4D2-480E-B252-2E0605BA3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51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web/packages/tsne/" TargetMode="External"/><Relationship Id="rId2" Type="http://schemas.openxmlformats.org/officeDocument/2006/relationships/hyperlink" Target="https://www.bioconductor.org/packages/release/bioc/html/BASiCS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mcgenomics.biomedcentral.com/articles/10.1186/s12864-019-5477-8" TargetMode="External"/><Relationship Id="rId4" Type="http://schemas.openxmlformats.org/officeDocument/2006/relationships/hyperlink" Target="https://www.bioconductor.org/packages/release/bioc/html/SingleR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CC889-223A-4689-9CB1-B07DFFCC77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Single Cell RNA Sequencing (scRNA-seq)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11B9BB-031C-4BDA-8F9B-2C4B70FF2F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Tiezheng Yuan</a:t>
            </a:r>
          </a:p>
          <a:p>
            <a:r>
              <a:rPr lang="en-US" dirty="0"/>
              <a:t>March 10</a:t>
            </a:r>
            <a:r>
              <a:rPr lang="en-US" baseline="30000" dirty="0"/>
              <a:t>th</a:t>
            </a:r>
            <a:r>
              <a:rPr lang="en-US" dirty="0"/>
              <a:t>, 2020</a:t>
            </a:r>
          </a:p>
        </p:txBody>
      </p:sp>
    </p:spTree>
    <p:extLst>
      <p:ext uri="{BB962C8B-B14F-4D97-AF65-F5344CB8AC3E}">
        <p14:creationId xmlns:p14="http://schemas.microsoft.com/office/powerpoint/2010/main" val="3359370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3A233-4FB0-4442-ACC6-56E36901E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mRNA-seq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D13AE-602F-42B2-A7C5-AAA841225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61861"/>
          </a:xfrm>
        </p:spPr>
        <p:txBody>
          <a:bodyPr/>
          <a:lstStyle/>
          <a:p>
            <a:r>
              <a:rPr lang="en-US" dirty="0"/>
              <a:t>Population-level mRNA sequencing</a:t>
            </a:r>
          </a:p>
          <a:p>
            <a:r>
              <a:rPr lang="en-US" dirty="0"/>
              <a:t>Single cell mRNA sequencing (scRNA-seq)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2073925-CBF9-44FB-8781-15B238D48677}"/>
              </a:ext>
            </a:extLst>
          </p:cNvPr>
          <p:cNvSpPr txBox="1">
            <a:spLocks/>
          </p:cNvSpPr>
          <p:nvPr/>
        </p:nvSpPr>
        <p:spPr>
          <a:xfrm>
            <a:off x="631372" y="3570516"/>
            <a:ext cx="10515600" cy="22968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generation sequencing: </a:t>
            </a:r>
            <a:br>
              <a:rPr lang="en-US" dirty="0"/>
            </a:br>
            <a:r>
              <a:rPr lang="en-US" dirty="0"/>
              <a:t>Illumina analyzer (short reads ~100-150bp).</a:t>
            </a:r>
          </a:p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generation sequencing: </a:t>
            </a:r>
            <a:br>
              <a:rPr lang="en-US" dirty="0"/>
            </a:br>
            <a:r>
              <a:rPr lang="en-US" dirty="0"/>
              <a:t>Oxford Nanopore sequencing</a:t>
            </a:r>
            <a:br>
              <a:rPr lang="en-US" dirty="0"/>
            </a:br>
            <a:r>
              <a:rPr lang="en-US" dirty="0"/>
              <a:t>PacBio sequencing</a:t>
            </a:r>
          </a:p>
        </p:txBody>
      </p:sp>
    </p:spTree>
    <p:extLst>
      <p:ext uri="{BB962C8B-B14F-4D97-AF65-F5344CB8AC3E}">
        <p14:creationId xmlns:p14="http://schemas.microsoft.com/office/powerpoint/2010/main" val="3330469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CDDE1-BF2B-4970-9067-02E98F604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Pipelines of mRNA-seq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9B354-5CFA-4D30-9C36-C7E74D463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Demultiplexing: raw data in </a:t>
            </a:r>
            <a:r>
              <a:rPr lang="en-US" dirty="0" err="1"/>
              <a:t>fastq</a:t>
            </a:r>
            <a:r>
              <a:rPr lang="en-US" dirty="0"/>
              <a:t> format</a:t>
            </a:r>
          </a:p>
          <a:p>
            <a:r>
              <a:rPr lang="en-US" dirty="0"/>
              <a:t>Prepare references: genome references in </a:t>
            </a:r>
            <a:r>
              <a:rPr lang="en-US" dirty="0" err="1"/>
              <a:t>fasta</a:t>
            </a:r>
            <a:r>
              <a:rPr lang="en-US" dirty="0"/>
              <a:t> and </a:t>
            </a:r>
            <a:r>
              <a:rPr lang="en-US" dirty="0" err="1"/>
              <a:t>gtf</a:t>
            </a:r>
            <a:r>
              <a:rPr lang="en-US" dirty="0"/>
              <a:t> format, or other annotations</a:t>
            </a:r>
          </a:p>
          <a:p>
            <a:r>
              <a:rPr lang="en-US" dirty="0"/>
              <a:t>Prepare phenotype of samples</a:t>
            </a:r>
          </a:p>
          <a:p>
            <a:r>
              <a:rPr lang="en-US" dirty="0"/>
              <a:t>Genome mapping</a:t>
            </a:r>
          </a:p>
          <a:p>
            <a:r>
              <a:rPr lang="en-US" dirty="0"/>
              <a:t>Assemble transcripts</a:t>
            </a:r>
          </a:p>
          <a:p>
            <a:r>
              <a:rPr lang="en-US" dirty="0"/>
              <a:t>Retrieve results such as read counts.</a:t>
            </a:r>
          </a:p>
          <a:p>
            <a:r>
              <a:rPr lang="en-US" dirty="0"/>
              <a:t>Statistics</a:t>
            </a:r>
          </a:p>
        </p:txBody>
      </p:sp>
    </p:spTree>
    <p:extLst>
      <p:ext uri="{BB962C8B-B14F-4D97-AF65-F5344CB8AC3E}">
        <p14:creationId xmlns:p14="http://schemas.microsoft.com/office/powerpoint/2010/main" val="1329641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7FFB-5AAA-4EC2-BE43-D5D09F7D2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Bioinformatics tools for mRNA-seq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4B926-4137-4418-AD56-C3EFBB93A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057" y="1814739"/>
            <a:ext cx="10515600" cy="2332718"/>
          </a:xfrm>
        </p:spPr>
        <p:txBody>
          <a:bodyPr/>
          <a:lstStyle/>
          <a:p>
            <a:r>
              <a:rPr lang="en-US" dirty="0"/>
              <a:t>Aligner: Bowtie, </a:t>
            </a:r>
            <a:r>
              <a:rPr lang="en-US" dirty="0" err="1"/>
              <a:t>tophat</a:t>
            </a:r>
            <a:r>
              <a:rPr lang="en-US" dirty="0"/>
              <a:t>, Hisat2</a:t>
            </a:r>
          </a:p>
          <a:p>
            <a:r>
              <a:rPr lang="en-US" dirty="0"/>
              <a:t>Assembler: cufflinks, </a:t>
            </a:r>
            <a:r>
              <a:rPr lang="en-US" dirty="0" err="1"/>
              <a:t>stringtie</a:t>
            </a:r>
            <a:r>
              <a:rPr lang="en-US" dirty="0"/>
              <a:t>, SAVER (3-end)</a:t>
            </a:r>
          </a:p>
          <a:p>
            <a:r>
              <a:rPr lang="en-US" dirty="0"/>
              <a:t>Other tools: </a:t>
            </a:r>
            <a:r>
              <a:rPr lang="en-US" dirty="0" err="1"/>
              <a:t>samtools</a:t>
            </a:r>
            <a:endParaRPr lang="en-US" dirty="0"/>
          </a:p>
          <a:p>
            <a:r>
              <a:rPr lang="en-US" dirty="0"/>
              <a:t>R packages: </a:t>
            </a:r>
            <a:r>
              <a:rPr lang="en-US" dirty="0" err="1"/>
              <a:t>EdgeR</a:t>
            </a:r>
            <a:r>
              <a:rPr lang="en-US" dirty="0"/>
              <a:t>, DEseq2, </a:t>
            </a:r>
            <a:r>
              <a:rPr lang="en-US" dirty="0" err="1"/>
              <a:t>goseq</a:t>
            </a:r>
            <a:r>
              <a:rPr lang="en-US" dirty="0"/>
              <a:t>, etc.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EFA477-8502-4B32-B5B2-5319642EBA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57" y="5682343"/>
            <a:ext cx="10828461" cy="94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310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0827-30E0-4F6F-97A3-8EB5914A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scRNA-seq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C59D7-2AE8-4CFE-BDCC-270FCDBE2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Sparse counts data: </a:t>
            </a:r>
            <a:br>
              <a:rPr lang="en-US" dirty="0"/>
            </a:br>
            <a:r>
              <a:rPr lang="en-US" dirty="0"/>
              <a:t>Read counts is highly skewed. </a:t>
            </a:r>
            <a:br>
              <a:rPr lang="en-US" dirty="0"/>
            </a:br>
            <a:r>
              <a:rPr lang="en-US" dirty="0"/>
              <a:t>Null values for large number of transcripts</a:t>
            </a:r>
          </a:p>
          <a:p>
            <a:r>
              <a:rPr lang="en-US" dirty="0"/>
              <a:t>High fluctuation of transcripts expression: </a:t>
            </a:r>
            <a:br>
              <a:rPr lang="en-US" dirty="0"/>
            </a:br>
            <a:r>
              <a:rPr lang="en-US" dirty="0"/>
              <a:t>cell status, cell type, technical replication, etc.</a:t>
            </a:r>
          </a:p>
          <a:p>
            <a:r>
              <a:rPr lang="en-US" dirty="0"/>
              <a:t>High diversity of transcript community:</a:t>
            </a:r>
            <a:br>
              <a:rPr lang="en-US" dirty="0"/>
            </a:br>
            <a:r>
              <a:rPr lang="en-US" dirty="0"/>
              <a:t>cell status, cell type, etc.</a:t>
            </a:r>
          </a:p>
        </p:txBody>
      </p:sp>
    </p:spTree>
    <p:extLst>
      <p:ext uri="{BB962C8B-B14F-4D97-AF65-F5344CB8AC3E}">
        <p14:creationId xmlns:p14="http://schemas.microsoft.com/office/powerpoint/2010/main" val="3106249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C777F-7050-493F-89F3-63DEC5956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Statistics of scRNA-seq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80BEC-C0A9-44A5-9711-52695B1DD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Quality control: total read counts, transcripts number, Frequency of mitochondrial genes</a:t>
            </a:r>
          </a:p>
          <a:p>
            <a:r>
              <a:rPr lang="en-US" dirty="0"/>
              <a:t>Normalization: </a:t>
            </a:r>
          </a:p>
          <a:p>
            <a:r>
              <a:rPr lang="en-US" dirty="0"/>
              <a:t>Identify co-variates</a:t>
            </a:r>
          </a:p>
          <a:p>
            <a:r>
              <a:rPr lang="en-US" dirty="0"/>
              <a:t>Dimensional reduction</a:t>
            </a:r>
          </a:p>
          <a:p>
            <a:r>
              <a:rPr lang="en-US" dirty="0"/>
              <a:t>Classification of cells.</a:t>
            </a:r>
          </a:p>
          <a:p>
            <a:r>
              <a:rPr lang="en-US" dirty="0"/>
              <a:t>Trajectory analysis: Gene expression dynamics</a:t>
            </a:r>
          </a:p>
          <a:p>
            <a:r>
              <a:rPr lang="en-US" dirty="0"/>
              <a:t>Unification or heterogeneity</a:t>
            </a:r>
          </a:p>
        </p:txBody>
      </p:sp>
    </p:spTree>
    <p:extLst>
      <p:ext uri="{BB962C8B-B14F-4D97-AF65-F5344CB8AC3E}">
        <p14:creationId xmlns:p14="http://schemas.microsoft.com/office/powerpoint/2010/main" val="463682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7337C-C094-4A52-BCC4-8D38D11D8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5615B-7643-4DF6-9B1B-F86847DD7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0861"/>
          </a:xfrm>
        </p:spPr>
        <p:txBody>
          <a:bodyPr>
            <a:normAutofit fontScale="92500"/>
          </a:bodyPr>
          <a:lstStyle/>
          <a:p>
            <a:r>
              <a:rPr lang="en-US" dirty="0"/>
              <a:t>QC: </a:t>
            </a:r>
            <a:r>
              <a:rPr lang="en-US" dirty="0" err="1"/>
              <a:t>scRNABatchQC</a:t>
            </a:r>
            <a:r>
              <a:rPr lang="en-US" dirty="0"/>
              <a:t>, https://github.com/liuqivandy/scRNABatchQC</a:t>
            </a:r>
          </a:p>
          <a:p>
            <a:r>
              <a:rPr lang="en-US" dirty="0"/>
              <a:t>Normalization: </a:t>
            </a:r>
            <a:r>
              <a:rPr lang="en-US" dirty="0" err="1"/>
              <a:t>BASiCS</a:t>
            </a:r>
            <a:r>
              <a:rPr lang="en-US" dirty="0"/>
              <a:t>, </a:t>
            </a:r>
            <a:r>
              <a:rPr lang="en-US" dirty="0">
                <a:hlinkClick r:id="rId2"/>
              </a:rPr>
              <a:t>https://www.bioconductor.org/packages/release/bioc/html/BASiCS.html</a:t>
            </a:r>
            <a:endParaRPr lang="en-US" dirty="0"/>
          </a:p>
          <a:p>
            <a:r>
              <a:rPr lang="en-US" dirty="0"/>
              <a:t>Dimensional reduction: t-SNE, </a:t>
            </a:r>
            <a:r>
              <a:rPr lang="en-US" dirty="0">
                <a:hlinkClick r:id="rId3"/>
              </a:rPr>
              <a:t>https://cran.r-project.org/web/packages/tsne/</a:t>
            </a:r>
            <a:endParaRPr lang="en-US" dirty="0"/>
          </a:p>
          <a:p>
            <a:r>
              <a:rPr lang="en-US" dirty="0"/>
              <a:t>Classification: </a:t>
            </a:r>
            <a:r>
              <a:rPr lang="en-US" dirty="0" err="1"/>
              <a:t>singleR</a:t>
            </a:r>
            <a:r>
              <a:rPr lang="en-US" dirty="0"/>
              <a:t>, </a:t>
            </a:r>
            <a:r>
              <a:rPr lang="en-US" dirty="0">
                <a:hlinkClick r:id="rId4"/>
              </a:rPr>
              <a:t>https://www.bioconductor.org/packages/release/bioc/html/SingleR.html</a:t>
            </a:r>
            <a:endParaRPr lang="en-US" dirty="0"/>
          </a:p>
          <a:p>
            <a:r>
              <a:rPr lang="en-US" dirty="0"/>
              <a:t>Gene expression dynamics: TSEE, </a:t>
            </a:r>
            <a:r>
              <a:rPr lang="en-US" dirty="0">
                <a:hlinkClick r:id="rId5"/>
              </a:rPr>
              <a:t>https://bmcgenomics.biomedcentral.com/articles/10.1186/s12864-019-5477-8</a:t>
            </a:r>
            <a:endParaRPr lang="en-US" dirty="0"/>
          </a:p>
          <a:p>
            <a:r>
              <a:rPr lang="en-US" dirty="0"/>
              <a:t>Unification: PAGA, https://github.com/theislab/paga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606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402</Words>
  <Application>Microsoft Office PowerPoint</Application>
  <PresentationFormat>Widescreen</PresentationFormat>
  <Paragraphs>47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Single Cell RNA Sequencing (scRNA-seq) Data Analysis</vt:lpstr>
      <vt:lpstr>mRNA-seq protocols</vt:lpstr>
      <vt:lpstr>Pipelines of mRNA-seq data analysis</vt:lpstr>
      <vt:lpstr>Bioinformatics tools for mRNA-seq data analysis</vt:lpstr>
      <vt:lpstr>Features of scRNA-seq data</vt:lpstr>
      <vt:lpstr>Statistics of scRNA-seq data analysis</vt:lpstr>
      <vt:lpstr>Tools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Bioinformatics: miRNA-seq data analysis</dc:title>
  <dc:creator>Tiezheng Yuan</dc:creator>
  <cp:lastModifiedBy>Tiezheng Yuan</cp:lastModifiedBy>
  <cp:revision>25</cp:revision>
  <dcterms:created xsi:type="dcterms:W3CDTF">2020-03-10T11:56:55Z</dcterms:created>
  <dcterms:modified xsi:type="dcterms:W3CDTF">2020-03-10T19:52:25Z</dcterms:modified>
</cp:coreProperties>
</file>