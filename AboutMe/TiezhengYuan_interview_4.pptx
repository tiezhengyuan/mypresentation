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 ContentType="image/tiff"/>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92" r:id="rId4"/>
    <p:sldId id="258" r:id="rId5"/>
    <p:sldId id="294" r:id="rId6"/>
    <p:sldId id="324" r:id="rId7"/>
    <p:sldId id="259" r:id="rId8"/>
    <p:sldId id="325" r:id="rId9"/>
    <p:sldId id="317" r:id="rId10"/>
    <p:sldId id="319" r:id="rId11"/>
    <p:sldId id="318" r:id="rId12"/>
    <p:sldId id="316" r:id="rId13"/>
    <p:sldId id="321" r:id="rId14"/>
    <p:sldId id="322" r:id="rId15"/>
    <p:sldId id="323" r:id="rId16"/>
    <p:sldId id="262" r:id="rId17"/>
    <p:sldId id="333" r:id="rId18"/>
    <p:sldId id="320" r:id="rId19"/>
    <p:sldId id="329" r:id="rId20"/>
    <p:sldId id="327" r:id="rId21"/>
    <p:sldId id="328" r:id="rId22"/>
    <p:sldId id="330" r:id="rId23"/>
    <p:sldId id="331" r:id="rId24"/>
    <p:sldId id="334" r:id="rId25"/>
    <p:sldId id="297" r:id="rId26"/>
    <p:sldId id="310" r:id="rId27"/>
    <p:sldId id="267" r:id="rId28"/>
    <p:sldId id="299" r:id="rId29"/>
    <p:sldId id="332" r:id="rId30"/>
    <p:sldId id="309" r:id="rId31"/>
    <p:sldId id="296" r:id="rId32"/>
    <p:sldId id="266" r:id="rId33"/>
    <p:sldId id="308" r:id="rId3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18" autoAdjust="0"/>
    <p:restoredTop sz="63878" autoAdjust="0"/>
  </p:normalViewPr>
  <p:slideViewPr>
    <p:cSldViewPr>
      <p:cViewPr varScale="1">
        <p:scale>
          <a:sx n="43" d="100"/>
          <a:sy n="43" d="100"/>
        </p:scale>
        <p:origin x="1948"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28E4574-9240-4362-B5C6-E34732E6F7BE}" type="datetimeFigureOut">
              <a:rPr lang="zh-CN" altLang="en-US" smtClean="0"/>
              <a:pPr/>
              <a:t>2020/3/12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6D5DA3-86FE-4BC1-843C-72D2E334350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Good morning</a:t>
            </a:r>
            <a:r>
              <a:rPr lang="en-US" altLang="zh-CN" baseline="0" dirty="0"/>
              <a:t> everyone. Thank you for scheduling this time to meet. </a:t>
            </a:r>
            <a:endParaRPr lang="zh-CN" altLang="en-US" dirty="0"/>
          </a:p>
        </p:txBody>
      </p:sp>
      <p:sp>
        <p:nvSpPr>
          <p:cNvPr id="4" name="灯片编号占位符 3"/>
          <p:cNvSpPr>
            <a:spLocks noGrp="1"/>
          </p:cNvSpPr>
          <p:nvPr>
            <p:ph type="sldNum" sz="quarter" idx="10"/>
          </p:nvPr>
        </p:nvSpPr>
        <p:spPr/>
        <p:txBody>
          <a:bodyPr/>
          <a:lstStyle/>
          <a:p>
            <a:fld id="{2C6D5DA3-86FE-4BC1-843C-72D2E3343509}"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I’ve gotten</a:t>
            </a:r>
            <a:r>
              <a:rPr lang="en-US" altLang="zh-CN" baseline="0" dirty="0"/>
              <a:t> PhD in 2012, Biochemistry and molecular biology. I am pursuing my second master degree Software engineering. I work as </a:t>
            </a:r>
            <a:r>
              <a:rPr lang="en-US" altLang="zh-CN" baseline="0" dirty="0" err="1"/>
              <a:t>Posdoc</a:t>
            </a:r>
            <a:r>
              <a:rPr lang="en-US" altLang="zh-CN" baseline="0" dirty="0"/>
              <a:t> fellow in Department of Pathology &amp;Cancer Center in Medical College of Wisconsin in 2012-2015, and then in Johns Hopkins University-School of Medicine in 2015-2018. </a:t>
            </a:r>
          </a:p>
          <a:p>
            <a:endParaRPr lang="zh-CN" altLang="en-US" dirty="0"/>
          </a:p>
        </p:txBody>
      </p:sp>
      <p:sp>
        <p:nvSpPr>
          <p:cNvPr id="4" name="灯片编号占位符 3"/>
          <p:cNvSpPr>
            <a:spLocks noGrp="1"/>
          </p:cNvSpPr>
          <p:nvPr>
            <p:ph type="sldNum" sz="quarter" idx="10"/>
          </p:nvPr>
        </p:nvSpPr>
        <p:spPr/>
        <p:txBody>
          <a:bodyPr/>
          <a:lstStyle/>
          <a:p>
            <a:fld id="{2C6D5DA3-86FE-4BC1-843C-72D2E3343509}"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baseline="0" dirty="0"/>
              <a:t>Based on the responsibilities required in this position, today’s talks will focus on pipeline development and my computing skills. </a:t>
            </a:r>
            <a:r>
              <a:rPr lang="en-US" altLang="zh-CN" dirty="0"/>
              <a:t>After that, I would like spend short time to introduce my academic results in biomarker research.</a:t>
            </a:r>
            <a:endParaRPr lang="zh-CN" altLang="en-US" dirty="0"/>
          </a:p>
        </p:txBody>
      </p:sp>
      <p:sp>
        <p:nvSpPr>
          <p:cNvPr id="4" name="灯片编号占位符 3"/>
          <p:cNvSpPr>
            <a:spLocks noGrp="1"/>
          </p:cNvSpPr>
          <p:nvPr>
            <p:ph type="sldNum" sz="quarter" idx="10"/>
          </p:nvPr>
        </p:nvSpPr>
        <p:spPr/>
        <p:txBody>
          <a:bodyPr/>
          <a:lstStyle/>
          <a:p>
            <a:fld id="{2C6D5DA3-86FE-4BC1-843C-72D2E3343509}"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summarized some features of design and implementation of bioinformatics pipeline according my experience.  The summarization might not cover all stuffs.</a:t>
            </a:r>
          </a:p>
          <a:p>
            <a:r>
              <a:rPr lang="en-US" dirty="0"/>
              <a:t>1. </a:t>
            </a:r>
            <a:r>
              <a:rPr lang="en-US" sz="1200" dirty="0"/>
              <a:t>Hybrid of object-oriented and process-oriented: Python programming support object-oriented, but process-oriented programming is often used because some bioinformatics steps should be executed in order.</a:t>
            </a:r>
          </a:p>
          <a:p>
            <a:r>
              <a:rPr lang="en-US" sz="1200" dirty="0"/>
              <a:t>2. Hybrid of computing programming and statistics: sometimes statistical models need to be integrated into pipeline.</a:t>
            </a:r>
          </a:p>
          <a:p>
            <a:r>
              <a:rPr lang="en-US" sz="1200" dirty="0"/>
              <a:t>3. Integrate and organize data means you may figure out how to handle raw data, or how to extract annotation data. Sometimes some particular scripts are required.</a:t>
            </a:r>
          </a:p>
          <a:p>
            <a:r>
              <a:rPr lang="en-US" sz="1200" dirty="0"/>
              <a:t>4. Employ third-party python modules or embed external tools into pipelines</a:t>
            </a:r>
          </a:p>
          <a:p>
            <a:r>
              <a:rPr lang="en-US" sz="1200" dirty="0"/>
              <a:t>5. Fast delivery: In my experience , the Agile practise is frequently used. One advantage of the Agile is that requirements could not be clarified in details at the beginning.</a:t>
            </a:r>
          </a:p>
          <a:p>
            <a:r>
              <a:rPr lang="en-US" sz="1200" dirty="0"/>
              <a:t>6.Linux-based environment</a:t>
            </a:r>
          </a:p>
          <a:p>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4</a:t>
            </a:fld>
            <a:endParaRPr lang="en-US"/>
          </a:p>
        </p:txBody>
      </p:sp>
    </p:spTree>
    <p:extLst>
      <p:ext uri="{BB962C8B-B14F-4D97-AF65-F5344CB8AC3E}">
        <p14:creationId xmlns:p14="http://schemas.microsoft.com/office/powerpoint/2010/main" val="3760723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my experience of developing pipeline, I usually follows four phases in its life cycle: requirement analysis, pipeline design and modeling analysis, coding work, and finally pipeline testing and implementation. The two processes task and risk management cover all phases in its life cycle.  The next, I will discuss all aspects one by one.</a:t>
            </a:r>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5</a:t>
            </a:fld>
            <a:endParaRPr lang="zh-CN" altLang="en-US"/>
          </a:p>
        </p:txBody>
      </p:sp>
    </p:spTree>
    <p:extLst>
      <p:ext uri="{BB962C8B-B14F-4D97-AF65-F5344CB8AC3E}">
        <p14:creationId xmlns:p14="http://schemas.microsoft.com/office/powerpoint/2010/main" val="1420737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Once a project is assigned, requirements analysis should be finished as soon as possible. Elicit and gather requirements from user stories, collaborators’ expectations or needs. Gathering correct requirements is important.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is a study I conducted before. A project aims at developing pipeline for </a:t>
            </a:r>
            <a:r>
              <a:rPr lang="en-US" dirty="0" err="1"/>
              <a:t>phipseq</a:t>
            </a:r>
            <a:r>
              <a:rPr lang="en-US" dirty="0"/>
              <a:t> data analysis. There are false positive signals. The question is how to build the model of false positive signals.   This picture shows comparison of mean and variance of read counts from a negative control. Biologist think it is noise, and want apply linear regression to estimate mean and variance. But in biostatistician, this phenomenon is overdispersion of counts data. There are some parametric model available such as </a:t>
            </a:r>
            <a:r>
              <a:rPr lang="en-US" dirty="0" err="1"/>
              <a:t>poisson</a:t>
            </a:r>
            <a:r>
              <a:rPr lang="en-US" dirty="0"/>
              <a:t>, binomial, negative-binomial, and beta-binomial.  Different thinking and elicitation results in different data modeling path.</a:t>
            </a:r>
          </a:p>
          <a:p>
            <a:endParaRPr lang="en-US" dirty="0"/>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6</a:t>
            </a:fld>
            <a:endParaRPr lang="zh-CN" altLang="en-US"/>
          </a:p>
        </p:txBody>
      </p:sp>
    </p:spTree>
    <p:extLst>
      <p:ext uri="{BB962C8B-B14F-4D97-AF65-F5344CB8AC3E}">
        <p14:creationId xmlns:p14="http://schemas.microsoft.com/office/powerpoint/2010/main" val="41191068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This case shows how bioinformatics works enhance wet bench work. I collaborate with  biologists to investigate </a:t>
            </a:r>
            <a:r>
              <a:rPr lang="en-US" altLang="zh-CN" dirty="0" err="1"/>
              <a:t>exosomal</a:t>
            </a:r>
            <a:r>
              <a:rPr lang="en-US" altLang="zh-CN" dirty="0"/>
              <a:t> RNAs. We need to answer some questions what is the best protocol for extracting </a:t>
            </a:r>
            <a:r>
              <a:rPr lang="en-US" altLang="zh-CN" dirty="0" err="1"/>
              <a:t>exosomal</a:t>
            </a:r>
            <a:r>
              <a:rPr lang="en-US" altLang="zh-CN" dirty="0"/>
              <a:t> RNAs, and what the expression profiles, and miRNA variants. My work is to translate those problems into bioinformatics solutions. Employing data analysis to answer these questions, and give light on the direction for future study.</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The </a:t>
            </a:r>
            <a:r>
              <a:rPr lang="en-US" altLang="zh-CN" baseline="0" dirty="0" err="1"/>
              <a:t>comparision</a:t>
            </a:r>
            <a:r>
              <a:rPr lang="en-US" altLang="zh-CN" baseline="0" dirty="0"/>
              <a:t> showed that the widely used methods of miRNA-seq </a:t>
            </a:r>
            <a:r>
              <a:rPr lang="en-US" altLang="zh-CN" dirty="0"/>
              <a:t>Library</a:t>
            </a:r>
            <a:r>
              <a:rPr lang="en-US" altLang="zh-CN" baseline="0" dirty="0"/>
              <a:t> preparation has serious effect on the detection of </a:t>
            </a:r>
            <a:r>
              <a:rPr lang="en-US" altLang="zh-CN" baseline="0" dirty="0" err="1"/>
              <a:t>exosomal</a:t>
            </a:r>
            <a:r>
              <a:rPr lang="en-US" altLang="zh-CN" baseline="0" dirty="0"/>
              <a:t> miRNAs.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Except </a:t>
            </a:r>
            <a:r>
              <a:rPr lang="en-US" altLang="zh-CN" dirty="0" err="1"/>
              <a:t>miRNAs</a:t>
            </a:r>
            <a:r>
              <a:rPr lang="en-US" altLang="zh-CN" dirty="0"/>
              <a:t>,</a:t>
            </a:r>
            <a:r>
              <a:rPr lang="en-US" altLang="zh-CN" baseline="0" dirty="0"/>
              <a:t> other RNA species were also detected. Here, we implement different alignment strategy for small RNA-seq analysis: iterative alignment. based on RNA species, list references in order we concerned. Alignment against the first reference, and aligned to the second reference using unmapped reads from the previous alignment and so one. </a:t>
            </a:r>
            <a:endParaRPr lang="zh-CN"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C6D5DA3-86FE-4BC1-843C-72D2E3343509}" type="slidenum">
              <a:rPr lang="zh-CN" altLang="en-US" smtClean="0"/>
              <a:pPr/>
              <a:t>7</a:t>
            </a:fld>
            <a:endParaRPr lang="zh-CN" altLang="en-US"/>
          </a:p>
        </p:txBody>
      </p:sp>
    </p:spTree>
    <p:extLst>
      <p:ext uri="{BB962C8B-B14F-4D97-AF65-F5344CB8AC3E}">
        <p14:creationId xmlns:p14="http://schemas.microsoft.com/office/powerpoint/2010/main" val="1528012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requirements are gathered, prepare project plan. Here are the contents should be put into the plan.</a:t>
            </a:r>
          </a:p>
          <a:p>
            <a:r>
              <a:rPr lang="en-US" dirty="0"/>
              <a:t>Goals and objectives. Scopes: Tasks and functionalities of pipeline.  Use cases: business logic. Constraints: pipeline dependencies Resources: hardware, data access</a:t>
            </a:r>
          </a:p>
          <a:p>
            <a:r>
              <a:rPr lang="en-US" dirty="0"/>
              <a:t>No much should be covered in the project plan - just 2-3 pages. I find many collaborators don’t like verbose. In my experience, it is risky to begin your coding work before you clarified requirements or without precise approval on the details of the project plan.  </a:t>
            </a:r>
          </a:p>
          <a:p>
            <a:endParaRPr lang="en-US" dirty="0"/>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8</a:t>
            </a:fld>
            <a:endParaRPr lang="zh-CN" altLang="en-US"/>
          </a:p>
        </p:txBody>
      </p:sp>
    </p:spTree>
    <p:extLst>
      <p:ext uri="{BB962C8B-B14F-4D97-AF65-F5344CB8AC3E}">
        <p14:creationId xmlns:p14="http://schemas.microsoft.com/office/powerpoint/2010/main" val="2086462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master how to design and implement bioinformation system for biologists. Here is one example I experienced. When I gathered requirements from biologists, I summarized their expectations: That is CPU, stands for customized, portable and usable. The system shall build large number of particular bioinformatics tools. I should develop some bioinformatics pipelines for them. And portable means…… And Usable means .  Finally, the technical solution is hybrid of Linux virtual machine and Docker containers.</a:t>
            </a:r>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9</a:t>
            </a:fld>
            <a:endParaRPr lang="zh-CN" altLang="en-US"/>
          </a:p>
        </p:txBody>
      </p:sp>
    </p:spTree>
    <p:extLst>
      <p:ext uri="{BB962C8B-B14F-4D97-AF65-F5344CB8AC3E}">
        <p14:creationId xmlns:p14="http://schemas.microsoft.com/office/powerpoint/2010/main" val="1266441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company, all computing systems are being transferred to Cloud computing platform. The three outer layers Azure cloud, VDA desktop, and Citrix have been established and fixed. What I should do is to design and build bioinformatics environments at the Linux level. All bioinformatics analysis are categorized into mRNA-seq, miRNA-seq, genome assembly, genome comparison, nanopore sequencing data analysis, and so on.</a:t>
            </a:r>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10</a:t>
            </a:fld>
            <a:endParaRPr lang="zh-CN" altLang="en-US"/>
          </a:p>
        </p:txBody>
      </p:sp>
    </p:spTree>
    <p:extLst>
      <p:ext uri="{BB962C8B-B14F-4D97-AF65-F5344CB8AC3E}">
        <p14:creationId xmlns:p14="http://schemas.microsoft.com/office/powerpoint/2010/main" val="14526671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an alternative bioinformatics environment, Docker containers are built. The great advantages of Docker is its portability and maintenance-free. End users could employ bioinformatics tools at their windows desktop without much requirements on Linux knowledge.  My major work is to create a comprehensive image based on a basic image. The key point is to build </a:t>
            </a:r>
            <a:r>
              <a:rPr lang="en-US" dirty="0" err="1"/>
              <a:t>dockerfile</a:t>
            </a:r>
            <a:r>
              <a:rPr lang="en-US" dirty="0"/>
              <a:t>.  End users could directly go into data analysis after creating containers at their Windows desktop.</a:t>
            </a:r>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11</a:t>
            </a:fld>
            <a:endParaRPr lang="zh-CN" altLang="en-US"/>
          </a:p>
        </p:txBody>
      </p:sp>
    </p:spTree>
    <p:extLst>
      <p:ext uri="{BB962C8B-B14F-4D97-AF65-F5344CB8AC3E}">
        <p14:creationId xmlns:p14="http://schemas.microsoft.com/office/powerpoint/2010/main" val="32462315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 few years, I concentrate on biomedical software engineering. I could design and develop stand-alone software, as Java programmer. And I could design and implement bioinformatics system or build bioinformatics environments for biologists.</a:t>
            </a:r>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12</a:t>
            </a:fld>
            <a:endParaRPr lang="zh-CN" altLang="en-US"/>
          </a:p>
        </p:txBody>
      </p:sp>
    </p:spTree>
    <p:extLst>
      <p:ext uri="{BB962C8B-B14F-4D97-AF65-F5344CB8AC3E}">
        <p14:creationId xmlns:p14="http://schemas.microsoft.com/office/powerpoint/2010/main" val="28366863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am going to show you an example.</a:t>
            </a:r>
          </a:p>
          <a:p>
            <a:r>
              <a:rPr lang="en-US" dirty="0"/>
              <a:t>This is a context diagram for a software - biomedical data organizer.  Scientists and managers employ the software to schedule tasks, manage sequencing data, and track bench work progress. Four physical entities are identified: manager, customer staff, biomedical specialist, and bioinformatician. Two logical entities are used for data stores. Major defined processes are showed as arrow lines</a:t>
            </a:r>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13</a:t>
            </a:fld>
            <a:endParaRPr lang="zh-CN" altLang="en-US"/>
          </a:p>
        </p:txBody>
      </p:sp>
    </p:spTree>
    <p:extLst>
      <p:ext uri="{BB962C8B-B14F-4D97-AF65-F5344CB8AC3E}">
        <p14:creationId xmlns:p14="http://schemas.microsoft.com/office/powerpoint/2010/main" val="3951804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class diagram shows all classes and objects involved in source code. There are three main functional modules. One is biomedical sample module, which organize samples and data. This one is human resource module, which relocate work load and control and monitor status. The last one is statistics modules, which carry out some summarization of relevant information. All functional modules work together for data integration and make the process of controlling and monitoring through sample life cycle.</a:t>
            </a:r>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14</a:t>
            </a:fld>
            <a:endParaRPr lang="zh-CN" altLang="en-US"/>
          </a:p>
        </p:txBody>
      </p:sp>
    </p:spTree>
    <p:extLst>
      <p:ext uri="{BB962C8B-B14F-4D97-AF65-F5344CB8AC3E}">
        <p14:creationId xmlns:p14="http://schemas.microsoft.com/office/powerpoint/2010/main" val="3152960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database tables. </a:t>
            </a:r>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15</a:t>
            </a:fld>
            <a:endParaRPr lang="zh-CN" altLang="en-US"/>
          </a:p>
        </p:txBody>
      </p:sp>
    </p:spTree>
    <p:extLst>
      <p:ext uri="{BB962C8B-B14F-4D97-AF65-F5344CB8AC3E}">
        <p14:creationId xmlns:p14="http://schemas.microsoft.com/office/powerpoint/2010/main" val="1243768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Process description shows logistic steps of the pipeline operations, which correspond with operations in real world.</a:t>
            </a:r>
          </a:p>
          <a:p>
            <a:r>
              <a:rPr lang="en-US" dirty="0"/>
              <a:t>This is an example- a pipeline used for analyzing RNA-seq. This sequence structure shows process structure. All steps required for RNA-seq analysis: prepare data: </a:t>
            </a:r>
            <a:r>
              <a:rPr lang="en-US" dirty="0" err="1"/>
              <a:t>fastq</a:t>
            </a:r>
            <a:r>
              <a:rPr lang="en-US" dirty="0"/>
              <a:t> files and genome references and annotation files,  verify parameters for bioinformatic tools, conduct genome mapping and transcripts assembly, and finally gather read counts for further statistical analysis.</a:t>
            </a:r>
          </a:p>
        </p:txBody>
      </p:sp>
      <p:sp>
        <p:nvSpPr>
          <p:cNvPr id="4" name="Slide Number Placeholder 3"/>
          <p:cNvSpPr>
            <a:spLocks noGrp="1"/>
          </p:cNvSpPr>
          <p:nvPr>
            <p:ph type="sldNum" sz="quarter" idx="5"/>
          </p:nvPr>
        </p:nvSpPr>
        <p:spPr/>
        <p:txBody>
          <a:bodyPr/>
          <a:lstStyle/>
          <a:p>
            <a:fld id="{E526EDF5-73A9-4F30-B1A6-8B6AF30FC97A}" type="slidenum">
              <a:rPr lang="en-US" smtClean="0"/>
              <a:t>16</a:t>
            </a:fld>
            <a:endParaRPr lang="en-US"/>
          </a:p>
        </p:txBody>
      </p:sp>
    </p:spTree>
    <p:extLst>
      <p:ext uri="{BB962C8B-B14F-4D97-AF65-F5344CB8AC3E}">
        <p14:creationId xmlns:p14="http://schemas.microsoft.com/office/powerpoint/2010/main" val="16616792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Coding work is intensive computing work. For a lightweight pipeline,  if requirements analysis and design are good, coding working will not consume much time. The final achievement is hierarchical source code. </a:t>
            </a:r>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17</a:t>
            </a:fld>
            <a:endParaRPr lang="zh-CN" altLang="en-US"/>
          </a:p>
        </p:txBody>
      </p:sp>
    </p:spTree>
    <p:extLst>
      <p:ext uri="{BB962C8B-B14F-4D97-AF65-F5344CB8AC3E}">
        <p14:creationId xmlns:p14="http://schemas.microsoft.com/office/powerpoint/2010/main" val="12678069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of pipeline testing is combined with coding work. There are four levels of testing in my practice.  </a:t>
            </a:r>
          </a:p>
          <a:p>
            <a:r>
              <a:rPr lang="en-US" dirty="0"/>
              <a:t>The basic testing is unit testing. One method needs one unit testing case. All bugs should be fixed. For robustness, some extreme conditions should be tested. </a:t>
            </a:r>
          </a:p>
          <a:p>
            <a:r>
              <a:rPr lang="en-US" dirty="0"/>
              <a:t>Integration testing used for testing functionality of the pipeline. Some checkpoint should be set for better locating errors. Performance of execution should be evaluated. System testing is close to real running status, and executed at server computer. </a:t>
            </a:r>
          </a:p>
          <a:p>
            <a:r>
              <a:rPr lang="en-US" dirty="0"/>
              <a:t>Acceptance testing is conducted by biologists. They will scrutinize the results, and employ their knowledge other than bioinformatic knowledge to glean errors .</a:t>
            </a:r>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18</a:t>
            </a:fld>
            <a:endParaRPr lang="zh-CN" altLang="en-US"/>
          </a:p>
        </p:txBody>
      </p:sp>
    </p:spTree>
    <p:extLst>
      <p:ext uri="{BB962C8B-B14F-4D97-AF65-F5344CB8AC3E}">
        <p14:creationId xmlns:p14="http://schemas.microsoft.com/office/powerpoint/2010/main" val="2319348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management integrate all phases of a project life cycle. Here, I listed major components .</a:t>
            </a:r>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19</a:t>
            </a:fld>
            <a:endParaRPr lang="zh-CN" altLang="en-US"/>
          </a:p>
        </p:txBody>
      </p:sp>
    </p:spTree>
    <p:extLst>
      <p:ext uri="{BB962C8B-B14F-4D97-AF65-F5344CB8AC3E}">
        <p14:creationId xmlns:p14="http://schemas.microsoft.com/office/powerpoint/2010/main" val="6898203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Tasks decomposition means a complicated or long-term task is decomposed into small and short-term tasks. I installed and configure bioinformatics environments for a team. Because the project is initiated, I have to report progress everyday. I draw the work breakdown structure, showing how many I should do.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work breakdown structure focuses on installation and implementation of bioinformatics system for biologists. A total of three levels tasks are identified. This system is deployed in Azure cloud computing platform. Theoretically, installing a bioinformatic system is not a big deal for a computer specialist. It is unreasonable to spread them in details. Actually, I did spend almost two months in real world.  Correct task decomposition allows you to understand the whole things in advance, and schedule task and allocate resources.</a:t>
            </a:r>
            <a:endParaRPr lang="en-US" sz="1200" dirty="0"/>
          </a:p>
        </p:txBody>
      </p:sp>
      <p:sp>
        <p:nvSpPr>
          <p:cNvPr id="4" name="Slide Number Placeholder 3"/>
          <p:cNvSpPr>
            <a:spLocks noGrp="1"/>
          </p:cNvSpPr>
          <p:nvPr>
            <p:ph type="sldNum" sz="quarter" idx="5"/>
          </p:nvPr>
        </p:nvSpPr>
        <p:spPr/>
        <p:txBody>
          <a:bodyPr/>
          <a:lstStyle/>
          <a:p>
            <a:fld id="{E526EDF5-73A9-4F30-B1A6-8B6AF30FC97A}" type="slidenum">
              <a:rPr lang="en-US" smtClean="0"/>
              <a:t>20</a:t>
            </a:fld>
            <a:endParaRPr lang="en-US"/>
          </a:p>
        </p:txBody>
      </p:sp>
    </p:spTree>
    <p:extLst>
      <p:ext uri="{BB962C8B-B14F-4D97-AF65-F5344CB8AC3E}">
        <p14:creationId xmlns:p14="http://schemas.microsoft.com/office/powerpoint/2010/main" val="5545605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GANTT charts is a good tool to schedule tasks. This charts shows my time and tasks arrangement in the last month before the deadline of the project.  I developed some pipeline for a team.  The time is so tight and the deadline is fixed.  I share this charts with other team member.  For me,  this GANTT chart shows what I should do in the last month, which help me to schedule my time. For other members, that relieve their anxiety and indicate them that everything is under control. </a:t>
            </a:r>
          </a:p>
        </p:txBody>
      </p:sp>
      <p:sp>
        <p:nvSpPr>
          <p:cNvPr id="4" name="Slide Number Placeholder 3"/>
          <p:cNvSpPr>
            <a:spLocks noGrp="1"/>
          </p:cNvSpPr>
          <p:nvPr>
            <p:ph type="sldNum" sz="quarter" idx="5"/>
          </p:nvPr>
        </p:nvSpPr>
        <p:spPr/>
        <p:txBody>
          <a:bodyPr/>
          <a:lstStyle/>
          <a:p>
            <a:fld id="{E526EDF5-73A9-4F30-B1A6-8B6AF30FC97A}" type="slidenum">
              <a:rPr lang="en-US" smtClean="0"/>
              <a:t>21</a:t>
            </a:fld>
            <a:endParaRPr lang="en-US"/>
          </a:p>
        </p:txBody>
      </p:sp>
    </p:spTree>
    <p:extLst>
      <p:ext uri="{BB962C8B-B14F-4D97-AF65-F5344CB8AC3E}">
        <p14:creationId xmlns:p14="http://schemas.microsoft.com/office/powerpoint/2010/main" val="8567192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negative factors may have impact on development process. Here I listed some risk factors I experienced. </a:t>
            </a:r>
          </a:p>
          <a:p>
            <a:r>
              <a:rPr lang="en-US" dirty="0"/>
              <a:t>I identify some reasons that are attributable to those risks and then I summarize some solutions. </a:t>
            </a:r>
          </a:p>
          <a:p>
            <a:r>
              <a:rPr lang="en-US" sz="1200" dirty="0"/>
              <a:t>1. Unclear requirements are typical problem. In a project, collaborator draw a flowchart and want me to follow it and develop pipeline. In his mind, coding work is the majority of bioinformatics and other work is trivial . Therefore, I should work together with to elicit requirements and clarify goals/objectives/scopes and so on. </a:t>
            </a:r>
          </a:p>
          <a:p>
            <a:r>
              <a:rPr lang="en-US" sz="1200" dirty="0"/>
              <a:t>2. Unpredictable changes. I love to feed back changes so I support fast delivery but I keep being watchful to unpredictable changes. For example, I was assigned to work on a dataset one day, but the next day,  I was told to give up it and turn to another one because it looks like amazing. Analyze the reasons leading to the changes before actions.</a:t>
            </a:r>
          </a:p>
          <a:p>
            <a:r>
              <a:rPr lang="en-US" sz="1200" dirty="0"/>
              <a:t>3. Communication: I worked in hybrid environments over past years. There are biologists, </a:t>
            </a:r>
            <a:r>
              <a:rPr lang="en-US" sz="1200" dirty="0" err="1"/>
              <a:t>bioinformatist</a:t>
            </a:r>
            <a:r>
              <a:rPr lang="en-US" sz="1200" dirty="0"/>
              <a:t>, biostatistician. They use different language. Use jargon free words. Sometime I will write down something to make sure that there is no misunderstanding.</a:t>
            </a:r>
          </a:p>
          <a:p>
            <a:r>
              <a:rPr lang="en-US" sz="1200" dirty="0"/>
              <a:t>4. Invisible information: project documents, status, scheduling should be visible to all team members.</a:t>
            </a:r>
          </a:p>
          <a:p>
            <a:endParaRPr lang="en-US" dirty="0"/>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22</a:t>
            </a:fld>
            <a:endParaRPr lang="zh-CN" altLang="en-US"/>
          </a:p>
        </p:txBody>
      </p:sp>
    </p:spTree>
    <p:extLst>
      <p:ext uri="{BB962C8B-B14F-4D97-AF65-F5344CB8AC3E}">
        <p14:creationId xmlns:p14="http://schemas.microsoft.com/office/powerpoint/2010/main" val="6382666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two example: one is delivered on time. Requirement, goals and scopes are clarified and defined well. The other is delayed.  Because requirement gathering is </a:t>
            </a:r>
            <a:r>
              <a:rPr lang="en-US" dirty="0" err="1"/>
              <a:t>umbiguous</a:t>
            </a:r>
            <a:r>
              <a:rPr lang="en-US" dirty="0"/>
              <a:t>; Goaling definition is skipped. With more data rolling out, more requirements are added.  The pipeline finally become clumsy.</a:t>
            </a:r>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23</a:t>
            </a:fld>
            <a:endParaRPr lang="zh-CN" altLang="en-US"/>
          </a:p>
        </p:txBody>
      </p:sp>
    </p:spTree>
    <p:extLst>
      <p:ext uri="{BB962C8B-B14F-4D97-AF65-F5344CB8AC3E}">
        <p14:creationId xmlns:p14="http://schemas.microsoft.com/office/powerpoint/2010/main" val="24124815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approach on how to dealing with disagreement. This picture shows how researchers operations affects on results. For constructing miRNA library, one key point is to recover DNA fragments (140-160bp) from 5% acrylamide gel. This guy work so hard. He did 40 gels in one week and did more than 100 miRNA library for sequencing. The pictures shows the amount of miRNA decrease when a large number of tasks were accumulated. There are multiple reasons. Precision of cutting gel, RNA extraction quality or gel quality varied from Monday to Sunday. In my experience of working with biologists, other than drawing straightforward conclusion with some reasoning, showing data sometimes make your comments more convincing. </a:t>
            </a:r>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24</a:t>
            </a:fld>
            <a:endParaRPr lang="zh-CN" altLang="en-US"/>
          </a:p>
        </p:txBody>
      </p:sp>
    </p:spTree>
    <p:extLst>
      <p:ext uri="{BB962C8B-B14F-4D97-AF65-F5344CB8AC3E}">
        <p14:creationId xmlns:p14="http://schemas.microsoft.com/office/powerpoint/2010/main" val="20941234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DCF46F42-F067-45DD-A536-E9354653403D}" type="slidenum">
              <a:rPr lang="en-US"/>
              <a:pPr/>
              <a:t>26</a:t>
            </a:fld>
            <a:endParaRPr lang="en-US"/>
          </a:p>
        </p:txBody>
      </p:sp>
      <p:sp>
        <p:nvSpPr>
          <p:cNvPr id="36865" name="Rectangle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p:spPr>
      </p:sp>
      <p:sp>
        <p:nvSpPr>
          <p:cNvPr id="36866" name="Text Box 2"/>
          <p:cNvSpPr txBox="1">
            <a:spLocks noGrp="1" noChangeArrowheads="1"/>
          </p:cNvSpPr>
          <p:nvPr>
            <p:ph type="body" idx="1"/>
          </p:nvPr>
        </p:nvSpPr>
        <p:spPr bwMode="auto">
          <a:xfrm>
            <a:off x="686360" y="4342535"/>
            <a:ext cx="5486681" cy="4114511"/>
          </a:xfrm>
          <a:prstGeom prst="rect">
            <a:avLst/>
          </a:prstGeom>
          <a:noFill/>
          <a:ln cap="flat">
            <a:round/>
            <a:headEnd/>
            <a:tailEnd/>
          </a:ln>
        </p:spPr>
        <p:txBody>
          <a:bodyPr lIns="0" tIns="15830" rIns="0" bIns="0"/>
          <a:lstStyle/>
          <a:p>
            <a:pPr marL="193749" indent="-190899">
              <a:lnSpc>
                <a:spcPct val="93000"/>
              </a:lnSpc>
              <a:spcBef>
                <a:spcPct val="0"/>
              </a:spcBef>
              <a:tabLst>
                <a:tab pos="193749" algn="l"/>
                <a:tab pos="604040" algn="l"/>
                <a:tab pos="1014331" algn="l"/>
                <a:tab pos="1424623" algn="l"/>
                <a:tab pos="1834914" algn="l"/>
                <a:tab pos="2245205" algn="l"/>
                <a:tab pos="2655496" algn="l"/>
                <a:tab pos="3065788" algn="l"/>
                <a:tab pos="3476079" algn="l"/>
                <a:tab pos="3886370" algn="l"/>
                <a:tab pos="4296661" algn="l"/>
                <a:tab pos="4706953" algn="l"/>
                <a:tab pos="5117244" algn="l"/>
                <a:tab pos="5527535" algn="l"/>
                <a:tab pos="5937827" algn="l"/>
                <a:tab pos="6348118" algn="l"/>
                <a:tab pos="6758409" algn="l"/>
                <a:tab pos="7168700" algn="l"/>
                <a:tab pos="7578992" algn="l"/>
                <a:tab pos="7989283" algn="l"/>
                <a:tab pos="8399574" algn="l"/>
              </a:tabLst>
            </a:pPr>
            <a:r>
              <a:rPr lang="en-US" sz="1800" dirty="0">
                <a:latin typeface="Arial" charset="0"/>
                <a:ea typeface="Droid Sans Fallback" charset="0"/>
                <a:cs typeface="Droid Sans Fallback" charset="0"/>
              </a:rPr>
              <a:t>Some one might be confused because our interest is antibody, but actually antibody and the amount is measured by sequencing. How did </a:t>
            </a:r>
            <a:r>
              <a:rPr lang="en-US" sz="1800" dirty="0" err="1">
                <a:latin typeface="Arial" charset="0"/>
                <a:ea typeface="Droid Sans Fallback" charset="0"/>
                <a:cs typeface="Droid Sans Fallback" charset="0"/>
              </a:rPr>
              <a:t>phipseq</a:t>
            </a:r>
            <a:r>
              <a:rPr lang="en-US" sz="1800" dirty="0">
                <a:latin typeface="Arial" charset="0"/>
                <a:ea typeface="Droid Sans Fallback" charset="0"/>
                <a:cs typeface="Droid Sans Fallback" charset="0"/>
              </a:rPr>
              <a:t> make that? </a:t>
            </a:r>
          </a:p>
          <a:p>
            <a:pPr marL="193749" indent="-190899">
              <a:lnSpc>
                <a:spcPct val="93000"/>
              </a:lnSpc>
              <a:spcBef>
                <a:spcPct val="0"/>
              </a:spcBef>
              <a:tabLst>
                <a:tab pos="193749" algn="l"/>
                <a:tab pos="604040" algn="l"/>
                <a:tab pos="1014331" algn="l"/>
                <a:tab pos="1424623" algn="l"/>
                <a:tab pos="1834914" algn="l"/>
                <a:tab pos="2245205" algn="l"/>
                <a:tab pos="2655496" algn="l"/>
                <a:tab pos="3065788" algn="l"/>
                <a:tab pos="3476079" algn="l"/>
                <a:tab pos="3886370" algn="l"/>
                <a:tab pos="4296661" algn="l"/>
                <a:tab pos="4706953" algn="l"/>
                <a:tab pos="5117244" algn="l"/>
                <a:tab pos="5527535" algn="l"/>
                <a:tab pos="5937827" algn="l"/>
                <a:tab pos="6348118" algn="l"/>
                <a:tab pos="6758409" algn="l"/>
                <a:tab pos="7168700" algn="l"/>
                <a:tab pos="7578992" algn="l"/>
                <a:tab pos="7989283" algn="l"/>
                <a:tab pos="8399574" algn="l"/>
              </a:tabLst>
            </a:pPr>
            <a:r>
              <a:rPr lang="en-US" sz="1800" dirty="0">
                <a:latin typeface="Arial" charset="0"/>
                <a:ea typeface="Droid Sans Fallback" charset="0"/>
                <a:cs typeface="Droid Sans Fallback" charset="0"/>
              </a:rPr>
              <a:t> This is Phage. This is blood sample. It  would be IgG. Look at the circled region. Antigens are on the surface of phage. Antigens are specific </a:t>
            </a:r>
            <a:r>
              <a:rPr lang="en-US" sz="1800" dirty="0" err="1">
                <a:latin typeface="Arial" charset="0"/>
                <a:ea typeface="Droid Sans Fallback" charset="0"/>
                <a:cs typeface="Droid Sans Fallback" charset="0"/>
              </a:rPr>
              <a:t>binded</a:t>
            </a:r>
            <a:r>
              <a:rPr lang="en-US" sz="1800" dirty="0">
                <a:latin typeface="Arial" charset="0"/>
                <a:ea typeface="Droid Sans Fallback" charset="0"/>
                <a:cs typeface="Droid Sans Fallback" charset="0"/>
              </a:rPr>
              <a:t> with IgG from the blood sample. IgG captured by </a:t>
            </a:r>
            <a:r>
              <a:rPr lang="en-US" sz="1800" dirty="0" err="1">
                <a:latin typeface="Arial" charset="0"/>
                <a:ea typeface="Droid Sans Fallback" charset="0"/>
                <a:cs typeface="Droid Sans Fallback" charset="0"/>
              </a:rPr>
              <a:t>proteinA</a:t>
            </a:r>
            <a:r>
              <a:rPr lang="en-US" sz="1800" dirty="0">
                <a:latin typeface="Arial" charset="0"/>
                <a:ea typeface="Droid Sans Fallback" charset="0"/>
                <a:cs typeface="Droid Sans Fallback" charset="0"/>
              </a:rPr>
              <a:t>/</a:t>
            </a:r>
            <a:r>
              <a:rPr lang="en-US" sz="1800" dirty="0" err="1">
                <a:latin typeface="Arial" charset="0"/>
                <a:ea typeface="Droid Sans Fallback" charset="0"/>
                <a:cs typeface="Droid Sans Fallback" charset="0"/>
              </a:rPr>
              <a:t>proteinG</a:t>
            </a:r>
            <a:r>
              <a:rPr lang="en-US" sz="1800" dirty="0">
                <a:latin typeface="Arial" charset="0"/>
                <a:ea typeface="Droid Sans Fallback" charset="0"/>
                <a:cs typeface="Droid Sans Fallback" charset="0"/>
              </a:rPr>
              <a:t>, which conjugated to beads. Those magnetic beads are pulled down by magnets. After that, we recover phage DNA, and construct DNA library for sequencing. Here, DNA is the counterpart of antigen. The amount of DNA corresponds to the binding of antigen-antibody and amount of antibodies. </a:t>
            </a:r>
          </a:p>
        </p:txBody>
      </p:sp>
    </p:spTree>
    <p:extLst>
      <p:ext uri="{BB962C8B-B14F-4D97-AF65-F5344CB8AC3E}">
        <p14:creationId xmlns:p14="http://schemas.microsoft.com/office/powerpoint/2010/main" val="16919569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I developed</a:t>
            </a:r>
            <a:r>
              <a:rPr lang="en-US" altLang="zh-CN" baseline="0" dirty="0"/>
              <a:t> a software known as </a:t>
            </a:r>
            <a:r>
              <a:rPr lang="en-US" altLang="zh-CN" baseline="0" dirty="0" err="1"/>
              <a:t>eRNA</a:t>
            </a:r>
            <a:r>
              <a:rPr lang="en-US" altLang="zh-CN" baseline="0" dirty="0"/>
              <a:t> for RNA-seq analysis. </a:t>
            </a:r>
            <a:r>
              <a:rPr lang="en-US" altLang="zh-CN" dirty="0" err="1"/>
              <a:t>eRNA</a:t>
            </a:r>
            <a:r>
              <a:rPr lang="en-US" altLang="zh-CN" dirty="0"/>
              <a:t> provide</a:t>
            </a:r>
            <a:r>
              <a:rPr lang="en-US" altLang="zh-CN" baseline="0" dirty="0"/>
              <a:t> </a:t>
            </a:r>
            <a:r>
              <a:rPr lang="en-US" altLang="zh-CN" dirty="0"/>
              <a:t>Graphic user interface integrated</a:t>
            </a:r>
            <a:r>
              <a:rPr lang="en-US" altLang="zh-CN" baseline="0" dirty="0"/>
              <a:t> with the third-party software.</a:t>
            </a:r>
            <a:r>
              <a:rPr lang="en-US" altLang="zh-CN" dirty="0"/>
              <a:t> The pipeline of </a:t>
            </a:r>
            <a:r>
              <a:rPr lang="en-US" altLang="zh-CN" dirty="0" err="1"/>
              <a:t>eRNA</a:t>
            </a:r>
            <a:r>
              <a:rPr lang="en-US" altLang="zh-CN" dirty="0"/>
              <a:t> provides</a:t>
            </a:r>
            <a:r>
              <a:rPr lang="en-US" altLang="zh-CN" baseline="0" dirty="0"/>
              <a:t> p</a:t>
            </a:r>
            <a:r>
              <a:rPr lang="en-US" altLang="zh-CN" dirty="0"/>
              <a:t>arallel</a:t>
            </a:r>
            <a:r>
              <a:rPr lang="en-US" altLang="zh-CN" baseline="0" dirty="0"/>
              <a:t> processing through m</a:t>
            </a:r>
            <a:r>
              <a:rPr lang="en-US" altLang="zh-CN" dirty="0"/>
              <a:t>uti-threading</a:t>
            </a:r>
            <a:r>
              <a:rPr lang="en-US" altLang="zh-CN" baseline="0" dirty="0"/>
              <a:t> and sample management. Quickly operate analysis of hundreds RNA-seq samples</a:t>
            </a:r>
            <a:endParaRPr lang="zh-CN"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C6D5DA3-86FE-4BC1-843C-72D2E3343509}" type="slidenum">
              <a:rPr lang="zh-CN" altLang="en-US" smtClean="0"/>
              <a:pPr/>
              <a:t>27</a:t>
            </a:fld>
            <a:endParaRPr lang="zh-CN" altLang="en-US"/>
          </a:p>
        </p:txBody>
      </p:sp>
    </p:spTree>
    <p:extLst>
      <p:ext uri="{BB962C8B-B14F-4D97-AF65-F5344CB8AC3E}">
        <p14:creationId xmlns:p14="http://schemas.microsoft.com/office/powerpoint/2010/main" val="10719369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 developed a new method based</a:t>
            </a:r>
            <a:r>
              <a:rPr lang="en-US" altLang="zh-CN" baseline="0" dirty="0"/>
              <a:t> on this 3C (chromatin conformation capture) technique. That is multiple target capture at an experiment. The challenge for the analysis is how to glean the small number targets from the huge data and also correct the noise due to neighboring region interaction.  The algorithm of coding and data structure and multithreading are used to </a:t>
            </a:r>
            <a:r>
              <a:rPr lang="en-US" altLang="zh-CN" baseline="0" dirty="0" err="1"/>
              <a:t>asure</a:t>
            </a:r>
            <a:r>
              <a:rPr lang="en-US" altLang="zh-CN" baseline="0" dirty="0"/>
              <a:t> presenting real hits.</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C6D5DA3-86FE-4BC1-843C-72D2E3343509}" type="slidenum">
              <a:rPr lang="zh-CN" altLang="en-US" smtClean="0"/>
              <a:pPr/>
              <a:t>28</a:t>
            </a:fld>
            <a:endParaRPr lang="zh-CN" altLang="en-US"/>
          </a:p>
        </p:txBody>
      </p:sp>
    </p:spTree>
    <p:extLst>
      <p:ext uri="{BB962C8B-B14F-4D97-AF65-F5344CB8AC3E}">
        <p14:creationId xmlns:p14="http://schemas.microsoft.com/office/powerpoint/2010/main" val="24652023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t>Expression profiles </a:t>
            </a:r>
            <a:r>
              <a:rPr lang="en-US" altLang="zh-CN" dirty="0"/>
              <a:t>in cancer patients and hunt small silencing RNAs candidates as </a:t>
            </a:r>
            <a:r>
              <a:rPr lang="en-US" altLang="zh-CN" b="1" dirty="0"/>
              <a:t>biomarker</a:t>
            </a:r>
            <a:r>
              <a:rPr lang="en-US" altLang="zh-CN" dirty="0"/>
              <a:t> reporting  the early cancer stage.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This study is the continuation</a:t>
            </a:r>
            <a:r>
              <a:rPr lang="en-US" altLang="zh-CN" baseline="0" dirty="0"/>
              <a:t> of the previous paper. It’s a large cohort study. 192 clinic cases with double sequencing replicates included colon cancer, prostate cancer, pancreatic patients. </a:t>
            </a:r>
            <a:endParaRPr lang="zh-CN" altLang="en-US" dirty="0"/>
          </a:p>
        </p:txBody>
      </p:sp>
      <p:sp>
        <p:nvSpPr>
          <p:cNvPr id="4" name="灯片编号占位符 3"/>
          <p:cNvSpPr>
            <a:spLocks noGrp="1"/>
          </p:cNvSpPr>
          <p:nvPr>
            <p:ph type="sldNum" sz="quarter" idx="10"/>
          </p:nvPr>
        </p:nvSpPr>
        <p:spPr/>
        <p:txBody>
          <a:bodyPr/>
          <a:lstStyle/>
          <a:p>
            <a:fld id="{2C6D5DA3-86FE-4BC1-843C-72D2E3343509}" type="slidenum">
              <a:rPr lang="zh-CN" altLang="en-US" smtClean="0"/>
              <a:pPr/>
              <a:t>31</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The third</a:t>
            </a:r>
            <a:r>
              <a:rPr lang="en-US" altLang="zh-CN" baseline="0" dirty="0"/>
              <a:t> paper is related to biomarker. Of 192 samples, we only focus on PC in this study, o</a:t>
            </a:r>
            <a:r>
              <a:rPr lang="en-US" altLang="zh-CN" dirty="0"/>
              <a:t>nly 23 CRPC (castration-resistant) patients. Our study</a:t>
            </a:r>
            <a:r>
              <a:rPr lang="en-US" altLang="zh-CN" baseline="0" dirty="0"/>
              <a:t> revealed that e</a:t>
            </a:r>
            <a:r>
              <a:rPr lang="en-US" altLang="zh-CN" dirty="0"/>
              <a:t>xpression levels of the two </a:t>
            </a:r>
            <a:r>
              <a:rPr lang="en-US" altLang="zh-CN" dirty="0" err="1"/>
              <a:t>miRNAs</a:t>
            </a:r>
            <a:r>
              <a:rPr lang="en-US" altLang="zh-CN" dirty="0"/>
              <a:t> were</a:t>
            </a:r>
            <a:r>
              <a:rPr lang="en-US" altLang="zh-CN" baseline="0" dirty="0"/>
              <a:t> associated with survival validated by follow-up 100 CRPC cases.</a:t>
            </a:r>
            <a:endParaRPr lang="zh-CN" altLang="en-US" dirty="0"/>
          </a:p>
        </p:txBody>
      </p:sp>
      <p:sp>
        <p:nvSpPr>
          <p:cNvPr id="4" name="灯片编号占位符 3"/>
          <p:cNvSpPr>
            <a:spLocks noGrp="1"/>
          </p:cNvSpPr>
          <p:nvPr>
            <p:ph type="sldNum" sz="quarter" idx="10"/>
          </p:nvPr>
        </p:nvSpPr>
        <p:spPr/>
        <p:txBody>
          <a:bodyPr/>
          <a:lstStyle/>
          <a:p>
            <a:fld id="{2C6D5DA3-86FE-4BC1-843C-72D2E3343509}" type="slidenum">
              <a:rPr lang="zh-CN" altLang="en-US" smtClean="0"/>
              <a:pPr/>
              <a:t>32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2020/3/12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2020/3/12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2020/3/12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2020/3/12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2020/3/12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2020/3/12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2020/3/12</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4.tif"/><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en-US" altLang="zh-CN" dirty="0"/>
              <a:t>Application for </a:t>
            </a:r>
            <a:br>
              <a:rPr lang="en-US" altLang="zh-CN" dirty="0"/>
            </a:br>
            <a:r>
              <a:rPr lang="en-US" altLang="zh-CN" dirty="0"/>
              <a:t>Bioinformatics position</a:t>
            </a:r>
            <a:endParaRPr lang="zh-CN" altLang="en-US" dirty="0"/>
          </a:p>
        </p:txBody>
      </p:sp>
      <p:sp>
        <p:nvSpPr>
          <p:cNvPr id="3" name="副标题 2"/>
          <p:cNvSpPr>
            <a:spLocks noGrp="1"/>
          </p:cNvSpPr>
          <p:nvPr>
            <p:ph type="subTitle" idx="1"/>
          </p:nvPr>
        </p:nvSpPr>
        <p:spPr/>
        <p:txBody>
          <a:bodyPr/>
          <a:lstStyle/>
          <a:p>
            <a:r>
              <a:rPr lang="en-US" altLang="zh-CN" dirty="0" err="1"/>
              <a:t>Tiezheng</a:t>
            </a:r>
            <a:r>
              <a:rPr lang="en-US" altLang="zh-CN" dirty="0"/>
              <a:t> Yuan Ph.D.</a:t>
            </a:r>
          </a:p>
          <a:p>
            <a:r>
              <a:rPr lang="en-US" altLang="zh-CN" dirty="0"/>
              <a:t>2020.03.12</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About me</a:t>
            </a:r>
            <a:endParaRPr lang="zh-CN" altLang="en-US" dirty="0"/>
          </a:p>
        </p:txBody>
      </p:sp>
      <p:sp>
        <p:nvSpPr>
          <p:cNvPr id="3" name="内容占位符 2"/>
          <p:cNvSpPr>
            <a:spLocks noGrp="1"/>
          </p:cNvSpPr>
          <p:nvPr>
            <p:ph idx="1"/>
          </p:nvPr>
        </p:nvSpPr>
        <p:spPr>
          <a:xfrm>
            <a:off x="457200" y="1340768"/>
            <a:ext cx="8229600" cy="5400600"/>
          </a:xfrm>
        </p:spPr>
        <p:txBody>
          <a:bodyPr>
            <a:normAutofit fontScale="92500" lnSpcReduction="10000"/>
          </a:bodyPr>
          <a:lstStyle/>
          <a:p>
            <a:r>
              <a:rPr lang="en-US" altLang="zh-CN" b="1" dirty="0"/>
              <a:t>Education</a:t>
            </a:r>
            <a:r>
              <a:rPr lang="en-US" altLang="zh-CN" dirty="0"/>
              <a:t>: </a:t>
            </a:r>
            <a:br>
              <a:rPr lang="en-US" altLang="zh-CN" dirty="0"/>
            </a:br>
            <a:r>
              <a:rPr lang="en-US" altLang="zh-CN" b="1" dirty="0"/>
              <a:t>Ph.D. (2008.09-2012.01)</a:t>
            </a:r>
            <a:r>
              <a:rPr lang="en-US" altLang="zh-CN" dirty="0"/>
              <a:t> Biochemistry and Molecular Biology, Chinese Academy of Agricultural Sciences.</a:t>
            </a:r>
            <a:br>
              <a:rPr lang="en-US" altLang="zh-CN" dirty="0"/>
            </a:br>
            <a:r>
              <a:rPr lang="en-US" altLang="zh-CN" b="1" dirty="0"/>
              <a:t>Master (2018.08-2020.05)</a:t>
            </a:r>
            <a:r>
              <a:rPr lang="en-US" altLang="zh-CN" dirty="0"/>
              <a:t> Software Engineering, University of Maryland, University College.</a:t>
            </a:r>
          </a:p>
          <a:p>
            <a:r>
              <a:rPr lang="en-US" altLang="zh-CN" b="1" dirty="0"/>
              <a:t>Work Experience</a:t>
            </a:r>
            <a:br>
              <a:rPr lang="en-US" altLang="zh-CN" b="1" dirty="0"/>
            </a:br>
            <a:r>
              <a:rPr lang="en-US" altLang="zh-CN" b="1" dirty="0"/>
              <a:t>Postdoc (2012-2015), Bioinformatics</a:t>
            </a:r>
            <a:br>
              <a:rPr lang="en-US" altLang="zh-CN" b="1" dirty="0"/>
            </a:br>
            <a:r>
              <a:rPr lang="en-US" altLang="zh-CN" dirty="0"/>
              <a:t>Medical College of Wisconsin, Milwaukee, WI.</a:t>
            </a:r>
          </a:p>
          <a:p>
            <a:pPr>
              <a:buNone/>
            </a:pPr>
            <a:r>
              <a:rPr lang="en-US" altLang="zh-CN" b="1" dirty="0"/>
              <a:t>    Postdoc (2015-2018), Bioinformatics</a:t>
            </a:r>
            <a:br>
              <a:rPr lang="en-US" altLang="zh-CN" b="1" dirty="0"/>
            </a:br>
            <a:r>
              <a:rPr lang="en-US" altLang="zh-CN" dirty="0"/>
              <a:t>Johns Hopkins University-School of Medicine, Baltimore, MD.</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Today’s Agenda</a:t>
            </a:r>
            <a:endParaRPr lang="zh-CN" altLang="en-US" dirty="0"/>
          </a:p>
        </p:txBody>
      </p:sp>
      <p:sp>
        <p:nvSpPr>
          <p:cNvPr id="3" name="内容占位符 2"/>
          <p:cNvSpPr>
            <a:spLocks noGrp="1"/>
          </p:cNvSpPr>
          <p:nvPr>
            <p:ph idx="1"/>
          </p:nvPr>
        </p:nvSpPr>
        <p:spPr/>
        <p:txBody>
          <a:bodyPr/>
          <a:lstStyle/>
          <a:p>
            <a:pPr marL="571500" indent="-571500">
              <a:buFont typeface="+mj-lt"/>
              <a:buAutoNum type="romanUcPeriod"/>
            </a:pPr>
            <a:r>
              <a:rPr lang="en-US" altLang="zh-CN" dirty="0"/>
              <a:t>My practice of bioinformatics pipeline development</a:t>
            </a:r>
          </a:p>
          <a:p>
            <a:pPr marL="571500" indent="-571500">
              <a:buFont typeface="+mj-lt"/>
              <a:buAutoNum type="romanUcPeriod"/>
            </a:pPr>
            <a:r>
              <a:rPr lang="en-US" altLang="zh-CN" dirty="0"/>
              <a:t>Bioinformatics pipelines</a:t>
            </a:r>
          </a:p>
          <a:p>
            <a:pPr marL="571500" indent="-571500">
              <a:buFont typeface="+mj-lt"/>
              <a:buAutoNum type="romanUcPeriod"/>
            </a:pPr>
            <a:r>
              <a:rPr lang="en-US" altLang="zh-CN" dirty="0"/>
              <a:t>Biomarker research</a:t>
            </a:r>
          </a:p>
          <a:p>
            <a:endParaRPr lang="en-US" altLang="zh-CN" dirty="0"/>
          </a:p>
          <a:p>
            <a:pPr>
              <a:buNone/>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9BEF9-398D-40DC-8C97-248AEB2CE52A}"/>
              </a:ext>
            </a:extLst>
          </p:cNvPr>
          <p:cNvSpPr>
            <a:spLocks noGrp="1"/>
          </p:cNvSpPr>
          <p:nvPr>
            <p:ph type="title"/>
          </p:nvPr>
        </p:nvSpPr>
        <p:spPr/>
        <p:txBody>
          <a:bodyPr>
            <a:normAutofit fontScale="90000"/>
          </a:bodyPr>
          <a:lstStyle/>
          <a:p>
            <a:pPr algn="ctr"/>
            <a:r>
              <a:rPr lang="en-US" dirty="0"/>
              <a:t>Features of bioinformatics pipeline development</a:t>
            </a:r>
          </a:p>
        </p:txBody>
      </p:sp>
      <p:sp>
        <p:nvSpPr>
          <p:cNvPr id="3" name="Content Placeholder 2">
            <a:extLst>
              <a:ext uri="{FF2B5EF4-FFF2-40B4-BE49-F238E27FC236}">
                <a16:creationId xmlns:a16="http://schemas.microsoft.com/office/drawing/2014/main" id="{D042904E-5B2A-42E8-8042-C4F9429711E6}"/>
              </a:ext>
            </a:extLst>
          </p:cNvPr>
          <p:cNvSpPr>
            <a:spLocks noGrp="1"/>
          </p:cNvSpPr>
          <p:nvPr>
            <p:ph idx="1"/>
          </p:nvPr>
        </p:nvSpPr>
        <p:spPr>
          <a:xfrm>
            <a:off x="628650" y="2226468"/>
            <a:ext cx="7886700" cy="4082851"/>
          </a:xfrm>
        </p:spPr>
        <p:txBody>
          <a:bodyPr>
            <a:normAutofit/>
          </a:bodyPr>
          <a:lstStyle/>
          <a:p>
            <a:r>
              <a:rPr lang="en-US" sz="2800" dirty="0"/>
              <a:t>Hybrid of object-oriented and process-oriented programming</a:t>
            </a:r>
          </a:p>
          <a:p>
            <a:r>
              <a:rPr lang="en-US" sz="2800" dirty="0"/>
              <a:t>Hybrid of computing programming and statistical modeling</a:t>
            </a:r>
          </a:p>
          <a:p>
            <a:r>
              <a:rPr lang="en-US" sz="2800" dirty="0"/>
              <a:t>Integrate and organize data</a:t>
            </a:r>
          </a:p>
          <a:p>
            <a:r>
              <a:rPr lang="en-US" sz="2800" dirty="0"/>
              <a:t>Use modules or embed external tools</a:t>
            </a:r>
          </a:p>
          <a:p>
            <a:r>
              <a:rPr lang="en-US" sz="2800" dirty="0"/>
              <a:t>Fast delivery</a:t>
            </a:r>
          </a:p>
          <a:p>
            <a:r>
              <a:rPr lang="en-US" sz="2800" dirty="0"/>
              <a:t>Linux-based environment</a:t>
            </a:r>
          </a:p>
        </p:txBody>
      </p:sp>
    </p:spTree>
    <p:extLst>
      <p:ext uri="{BB962C8B-B14F-4D97-AF65-F5344CB8AC3E}">
        <p14:creationId xmlns:p14="http://schemas.microsoft.com/office/powerpoint/2010/main" val="215641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Phases of pipeline development</a:t>
            </a:r>
            <a:br>
              <a:rPr lang="en-US" altLang="zh-CN" dirty="0"/>
            </a:br>
            <a:r>
              <a:rPr lang="en-US" altLang="zh-CN" dirty="0"/>
              <a:t>life cycle</a:t>
            </a:r>
            <a:endParaRPr lang="zh-CN" altLang="en-US" dirty="0"/>
          </a:p>
        </p:txBody>
      </p:sp>
      <p:sp>
        <p:nvSpPr>
          <p:cNvPr id="3" name="内容占位符 2"/>
          <p:cNvSpPr>
            <a:spLocks noGrp="1"/>
          </p:cNvSpPr>
          <p:nvPr>
            <p:ph idx="1"/>
          </p:nvPr>
        </p:nvSpPr>
        <p:spPr/>
        <p:txBody>
          <a:bodyPr/>
          <a:lstStyle/>
          <a:p>
            <a:pPr marL="514350" indent="-514350">
              <a:buFont typeface="+mj-lt"/>
              <a:buAutoNum type="arabicPeriod"/>
            </a:pPr>
            <a:r>
              <a:rPr lang="en-US" altLang="zh-CN" dirty="0"/>
              <a:t>Requirements analysis</a:t>
            </a:r>
          </a:p>
          <a:p>
            <a:pPr marL="514350" indent="-514350">
              <a:buFont typeface="+mj-lt"/>
              <a:buAutoNum type="arabicPeriod"/>
            </a:pPr>
            <a:r>
              <a:rPr lang="en-US" altLang="zh-CN" dirty="0"/>
              <a:t>Pipeline design and modeling analysis</a:t>
            </a:r>
          </a:p>
          <a:p>
            <a:pPr marL="514350" indent="-514350">
              <a:buFont typeface="+mj-lt"/>
              <a:buAutoNum type="arabicPeriod"/>
            </a:pPr>
            <a:r>
              <a:rPr lang="en-US" altLang="zh-CN" dirty="0"/>
              <a:t>Coding work</a:t>
            </a:r>
          </a:p>
          <a:p>
            <a:pPr marL="514350" indent="-514350">
              <a:buFont typeface="+mj-lt"/>
              <a:buAutoNum type="arabicPeriod"/>
            </a:pPr>
            <a:r>
              <a:rPr lang="en-US" altLang="zh-CN" dirty="0"/>
              <a:t>Pipeline testing</a:t>
            </a:r>
          </a:p>
          <a:p>
            <a:r>
              <a:rPr lang="en-US" altLang="zh-CN" dirty="0"/>
              <a:t>Task management</a:t>
            </a:r>
          </a:p>
          <a:p>
            <a:r>
              <a:rPr lang="en-US" altLang="zh-CN" dirty="0"/>
              <a:t>Risk management</a:t>
            </a:r>
          </a:p>
          <a:p>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7F01-9FFE-4E15-8010-A71E681225CC}"/>
              </a:ext>
            </a:extLst>
          </p:cNvPr>
          <p:cNvSpPr>
            <a:spLocks noGrp="1"/>
          </p:cNvSpPr>
          <p:nvPr>
            <p:ph type="title"/>
          </p:nvPr>
        </p:nvSpPr>
        <p:spPr/>
        <p:txBody>
          <a:bodyPr/>
          <a:lstStyle/>
          <a:p>
            <a:r>
              <a:rPr lang="en-US" dirty="0"/>
              <a:t>Phase 1: Requirements Analysis</a:t>
            </a:r>
          </a:p>
        </p:txBody>
      </p:sp>
      <p:sp>
        <p:nvSpPr>
          <p:cNvPr id="3" name="Content Placeholder 2">
            <a:extLst>
              <a:ext uri="{FF2B5EF4-FFF2-40B4-BE49-F238E27FC236}">
                <a16:creationId xmlns:a16="http://schemas.microsoft.com/office/drawing/2014/main" id="{DDE2F18A-2E41-4A62-A664-4A83B84FB614}"/>
              </a:ext>
            </a:extLst>
          </p:cNvPr>
          <p:cNvSpPr>
            <a:spLocks noGrp="1"/>
          </p:cNvSpPr>
          <p:nvPr>
            <p:ph idx="1"/>
          </p:nvPr>
        </p:nvSpPr>
        <p:spPr>
          <a:xfrm>
            <a:off x="457200" y="1600201"/>
            <a:ext cx="8229600" cy="1324744"/>
          </a:xfrm>
        </p:spPr>
        <p:txBody>
          <a:bodyPr>
            <a:normAutofit/>
          </a:bodyPr>
          <a:lstStyle/>
          <a:p>
            <a:r>
              <a:rPr lang="en-US" dirty="0"/>
              <a:t>Elicit and gather requirements from user stories, or collaborators’ expectations.</a:t>
            </a:r>
          </a:p>
        </p:txBody>
      </p:sp>
      <p:pic>
        <p:nvPicPr>
          <p:cNvPr id="5" name="Picture 1">
            <a:extLst>
              <a:ext uri="{FF2B5EF4-FFF2-40B4-BE49-F238E27FC236}">
                <a16:creationId xmlns:a16="http://schemas.microsoft.com/office/drawing/2014/main" id="{C1E60C3D-B561-4936-BC41-7CE03E816A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9712" y="2889489"/>
            <a:ext cx="4836313" cy="338214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231510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a:stretch>
            <a:fillRect/>
          </a:stretch>
        </p:blipFill>
        <p:spPr bwMode="auto">
          <a:xfrm>
            <a:off x="23440" y="356463"/>
            <a:ext cx="9092851" cy="3933055"/>
          </a:xfrm>
          <a:prstGeom prst="rect">
            <a:avLst/>
          </a:prstGeom>
          <a:noFill/>
          <a:ln w="9525">
            <a:noFill/>
            <a:miter lim="800000"/>
            <a:headEnd/>
            <a:tailEnd/>
          </a:ln>
        </p:spPr>
      </p:pic>
      <p:sp>
        <p:nvSpPr>
          <p:cNvPr id="6" name="TextBox 5"/>
          <p:cNvSpPr txBox="1"/>
          <p:nvPr/>
        </p:nvSpPr>
        <p:spPr>
          <a:xfrm>
            <a:off x="287524" y="5301208"/>
            <a:ext cx="8568952" cy="1200329"/>
          </a:xfrm>
          <a:prstGeom prst="rect">
            <a:avLst/>
          </a:prstGeom>
          <a:noFill/>
        </p:spPr>
        <p:txBody>
          <a:bodyPr wrap="square" rtlCol="0">
            <a:spAutoFit/>
          </a:bodyPr>
          <a:lstStyle/>
          <a:p>
            <a:r>
              <a:rPr lang="en-US" altLang="zh-CN" sz="2400" dirty="0"/>
              <a:t>We testified the workflow of beach work and analytic pipeline on the study of </a:t>
            </a:r>
            <a:r>
              <a:rPr lang="en-US" altLang="zh-CN" sz="2400" dirty="0" err="1"/>
              <a:t>exosomal</a:t>
            </a:r>
            <a:r>
              <a:rPr lang="en-US" altLang="zh-CN" sz="2400" dirty="0"/>
              <a:t> RNAs, and  compare of miRNA-seq library preparation method</a:t>
            </a:r>
            <a:endParaRPr lang="zh-CN" altLang="en-US" sz="2400" dirty="0"/>
          </a:p>
        </p:txBody>
      </p:sp>
    </p:spTree>
    <p:extLst>
      <p:ext uri="{BB962C8B-B14F-4D97-AF65-F5344CB8AC3E}">
        <p14:creationId xmlns:p14="http://schemas.microsoft.com/office/powerpoint/2010/main" val="3540997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7F01-9FFE-4E15-8010-A71E681225CC}"/>
              </a:ext>
            </a:extLst>
          </p:cNvPr>
          <p:cNvSpPr>
            <a:spLocks noGrp="1"/>
          </p:cNvSpPr>
          <p:nvPr>
            <p:ph type="title"/>
          </p:nvPr>
        </p:nvSpPr>
        <p:spPr/>
        <p:txBody>
          <a:bodyPr/>
          <a:lstStyle/>
          <a:p>
            <a:r>
              <a:rPr lang="en-US" dirty="0"/>
              <a:t>Create Development Plan</a:t>
            </a:r>
          </a:p>
        </p:txBody>
      </p:sp>
      <p:sp>
        <p:nvSpPr>
          <p:cNvPr id="3" name="Content Placeholder 2">
            <a:extLst>
              <a:ext uri="{FF2B5EF4-FFF2-40B4-BE49-F238E27FC236}">
                <a16:creationId xmlns:a16="http://schemas.microsoft.com/office/drawing/2014/main" id="{DDE2F18A-2E41-4A62-A664-4A83B84FB614}"/>
              </a:ext>
            </a:extLst>
          </p:cNvPr>
          <p:cNvSpPr>
            <a:spLocks noGrp="1"/>
          </p:cNvSpPr>
          <p:nvPr>
            <p:ph idx="1"/>
          </p:nvPr>
        </p:nvSpPr>
        <p:spPr/>
        <p:txBody>
          <a:bodyPr>
            <a:normAutofit/>
          </a:bodyPr>
          <a:lstStyle/>
          <a:p>
            <a:r>
              <a:rPr lang="en-US" dirty="0"/>
              <a:t>Goals and objectives</a:t>
            </a:r>
          </a:p>
          <a:p>
            <a:r>
              <a:rPr lang="en-US" dirty="0"/>
              <a:t>Scope: tasks list</a:t>
            </a:r>
          </a:p>
          <a:p>
            <a:r>
              <a:rPr lang="en-US" dirty="0"/>
              <a:t>Use case: functionalities of pipeline</a:t>
            </a:r>
          </a:p>
          <a:p>
            <a:r>
              <a:rPr lang="en-US" dirty="0"/>
              <a:t>Constraints: pipeline dependencies</a:t>
            </a:r>
          </a:p>
          <a:p>
            <a:r>
              <a:rPr lang="en-US" dirty="0"/>
              <a:t>Resources: hardware, data access</a:t>
            </a:r>
          </a:p>
          <a:p>
            <a:endParaRPr lang="en-US" dirty="0"/>
          </a:p>
        </p:txBody>
      </p:sp>
    </p:spTree>
    <p:extLst>
      <p:ext uri="{BB962C8B-B14F-4D97-AF65-F5344CB8AC3E}">
        <p14:creationId xmlns:p14="http://schemas.microsoft.com/office/powerpoint/2010/main" val="1770025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A6D28-1A89-4A2B-A215-9DE62DDC5F22}"/>
              </a:ext>
            </a:extLst>
          </p:cNvPr>
          <p:cNvSpPr>
            <a:spLocks noGrp="1"/>
          </p:cNvSpPr>
          <p:nvPr>
            <p:ph type="title"/>
          </p:nvPr>
        </p:nvSpPr>
        <p:spPr/>
        <p:txBody>
          <a:bodyPr>
            <a:normAutofit/>
          </a:bodyPr>
          <a:lstStyle/>
          <a:p>
            <a:r>
              <a:rPr lang="en-US" dirty="0"/>
              <a:t>Lightweight bioinformation system</a:t>
            </a:r>
          </a:p>
        </p:txBody>
      </p:sp>
      <p:sp>
        <p:nvSpPr>
          <p:cNvPr id="3" name="Content Placeholder 2">
            <a:extLst>
              <a:ext uri="{FF2B5EF4-FFF2-40B4-BE49-F238E27FC236}">
                <a16:creationId xmlns:a16="http://schemas.microsoft.com/office/drawing/2014/main" id="{B2209EF1-F54D-4F95-85A2-F40C460D3253}"/>
              </a:ext>
            </a:extLst>
          </p:cNvPr>
          <p:cNvSpPr>
            <a:spLocks noGrp="1"/>
          </p:cNvSpPr>
          <p:nvPr>
            <p:ph idx="1"/>
          </p:nvPr>
        </p:nvSpPr>
        <p:spPr>
          <a:xfrm>
            <a:off x="457200" y="1600200"/>
            <a:ext cx="8229600" cy="4983162"/>
          </a:xfrm>
        </p:spPr>
        <p:txBody>
          <a:bodyPr>
            <a:normAutofit lnSpcReduction="10000"/>
          </a:bodyPr>
          <a:lstStyle/>
          <a:p>
            <a:r>
              <a:rPr lang="en-US" sz="4000" b="1" dirty="0"/>
              <a:t>Customer expectations -&gt; CPU</a:t>
            </a:r>
            <a:br>
              <a:rPr lang="en-US" sz="4000" b="1" dirty="0"/>
            </a:br>
            <a:r>
              <a:rPr lang="en-US" b="1" dirty="0"/>
              <a:t>C</a:t>
            </a:r>
            <a:r>
              <a:rPr lang="en-US" dirty="0"/>
              <a:t>ustomized: Particular tools and customized pipelines.</a:t>
            </a:r>
            <a:br>
              <a:rPr lang="en-US" dirty="0"/>
            </a:br>
            <a:r>
              <a:rPr lang="en-US" b="1" dirty="0"/>
              <a:t>P</a:t>
            </a:r>
            <a:r>
              <a:rPr lang="en-US" dirty="0"/>
              <a:t>ortable: Dependencies packaged, fast deployment, and free maintenance.</a:t>
            </a:r>
            <a:r>
              <a:rPr lang="en-US" b="1" dirty="0"/>
              <a:t> </a:t>
            </a:r>
            <a:br>
              <a:rPr lang="en-US" b="1" dirty="0"/>
            </a:br>
            <a:r>
              <a:rPr lang="en-US" b="1" dirty="0"/>
              <a:t>U</a:t>
            </a:r>
            <a:r>
              <a:rPr lang="en-US" dirty="0"/>
              <a:t>sable: Friendly use and straightforward routine.</a:t>
            </a:r>
          </a:p>
          <a:p>
            <a:r>
              <a:rPr lang="en-US" sz="4000" b="1" dirty="0"/>
              <a:t>Technical solution</a:t>
            </a:r>
            <a:r>
              <a:rPr lang="en-US" sz="4000" dirty="0"/>
              <a:t>: </a:t>
            </a:r>
            <a:br>
              <a:rPr lang="en-US" dirty="0"/>
            </a:br>
            <a:r>
              <a:rPr lang="en-US" dirty="0"/>
              <a:t>Hybrid of Linux virtual machine at Azure cloud and Docker containers at user end.</a:t>
            </a:r>
          </a:p>
        </p:txBody>
      </p:sp>
    </p:spTree>
    <p:extLst>
      <p:ext uri="{BB962C8B-B14F-4D97-AF65-F5344CB8AC3E}">
        <p14:creationId xmlns:p14="http://schemas.microsoft.com/office/powerpoint/2010/main" val="3970781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E9E03-CE32-49E0-B317-7932A08A2232}"/>
              </a:ext>
            </a:extLst>
          </p:cNvPr>
          <p:cNvSpPr>
            <a:spLocks noGrp="1"/>
          </p:cNvSpPr>
          <p:nvPr>
            <p:ph type="title"/>
          </p:nvPr>
        </p:nvSpPr>
        <p:spPr/>
        <p:txBody>
          <a:bodyPr/>
          <a:lstStyle/>
          <a:p>
            <a:r>
              <a:rPr lang="en-US" dirty="0"/>
              <a:t>Cloud Computing Platform</a:t>
            </a:r>
          </a:p>
        </p:txBody>
      </p:sp>
      <p:pic>
        <p:nvPicPr>
          <p:cNvPr id="5" name="Picture 4">
            <a:extLst>
              <a:ext uri="{FF2B5EF4-FFF2-40B4-BE49-F238E27FC236}">
                <a16:creationId xmlns:a16="http://schemas.microsoft.com/office/drawing/2014/main" id="{D0E11BE2-485C-42EE-96CE-59585F290F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88" y="1912065"/>
            <a:ext cx="9144000" cy="4671297"/>
          </a:xfrm>
          <a:prstGeom prst="rect">
            <a:avLst/>
          </a:prstGeom>
        </p:spPr>
      </p:pic>
    </p:spTree>
    <p:extLst>
      <p:ext uri="{BB962C8B-B14F-4D97-AF65-F5344CB8AC3E}">
        <p14:creationId xmlns:p14="http://schemas.microsoft.com/office/powerpoint/2010/main" val="553074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AAA42-960D-426A-B6F3-7B30D28C76D1}"/>
              </a:ext>
            </a:extLst>
          </p:cNvPr>
          <p:cNvSpPr>
            <a:spLocks noGrp="1"/>
          </p:cNvSpPr>
          <p:nvPr>
            <p:ph type="title"/>
          </p:nvPr>
        </p:nvSpPr>
        <p:spPr/>
        <p:txBody>
          <a:bodyPr/>
          <a:lstStyle/>
          <a:p>
            <a:r>
              <a:rPr lang="en-US" dirty="0"/>
              <a:t>Docker Containers</a:t>
            </a:r>
          </a:p>
        </p:txBody>
      </p:sp>
      <p:pic>
        <p:nvPicPr>
          <p:cNvPr id="5" name="Picture 4">
            <a:extLst>
              <a:ext uri="{FF2B5EF4-FFF2-40B4-BE49-F238E27FC236}">
                <a16:creationId xmlns:a16="http://schemas.microsoft.com/office/drawing/2014/main" id="{6AE7F76B-5B84-40CD-BAFB-9A2C987B7B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455" y="1844824"/>
            <a:ext cx="7615089" cy="4569053"/>
          </a:xfrm>
          <a:prstGeom prst="rect">
            <a:avLst/>
          </a:prstGeom>
        </p:spPr>
      </p:pic>
    </p:spTree>
    <p:extLst>
      <p:ext uri="{BB962C8B-B14F-4D97-AF65-F5344CB8AC3E}">
        <p14:creationId xmlns:p14="http://schemas.microsoft.com/office/powerpoint/2010/main" val="2524270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A9AE0-03B7-4383-B29B-B1FD26E2E16E}"/>
              </a:ext>
            </a:extLst>
          </p:cNvPr>
          <p:cNvSpPr>
            <a:spLocks noGrp="1"/>
          </p:cNvSpPr>
          <p:nvPr>
            <p:ph type="title"/>
          </p:nvPr>
        </p:nvSpPr>
        <p:spPr/>
        <p:txBody>
          <a:bodyPr>
            <a:normAutofit fontScale="90000"/>
          </a:bodyPr>
          <a:lstStyle/>
          <a:p>
            <a:r>
              <a:rPr lang="en-US" dirty="0"/>
              <a:t>Phase 2: Pipeline design and modeling</a:t>
            </a:r>
          </a:p>
        </p:txBody>
      </p:sp>
      <p:sp>
        <p:nvSpPr>
          <p:cNvPr id="3" name="Content Placeholder 2">
            <a:extLst>
              <a:ext uri="{FF2B5EF4-FFF2-40B4-BE49-F238E27FC236}">
                <a16:creationId xmlns:a16="http://schemas.microsoft.com/office/drawing/2014/main" id="{A6FC9D4C-CF87-4340-BD56-7D015B2E1AB6}"/>
              </a:ext>
            </a:extLst>
          </p:cNvPr>
          <p:cNvSpPr>
            <a:spLocks noGrp="1"/>
          </p:cNvSpPr>
          <p:nvPr>
            <p:ph idx="1"/>
          </p:nvPr>
        </p:nvSpPr>
        <p:spPr/>
        <p:txBody>
          <a:bodyPr/>
          <a:lstStyle/>
          <a:p>
            <a:r>
              <a:rPr lang="en-US" dirty="0"/>
              <a:t>Object-oriented analysis: Design desktop version software</a:t>
            </a:r>
          </a:p>
          <a:p>
            <a:r>
              <a:rPr lang="en-US" dirty="0"/>
              <a:t>Process-oriented analysis: Design bioinformatics pipelines</a:t>
            </a:r>
          </a:p>
        </p:txBody>
      </p:sp>
    </p:spTree>
    <p:extLst>
      <p:ext uri="{BB962C8B-B14F-4D97-AF65-F5344CB8AC3E}">
        <p14:creationId xmlns:p14="http://schemas.microsoft.com/office/powerpoint/2010/main" val="1748296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149DE-C2E3-424E-9E90-2FAE2FBD06E2}"/>
              </a:ext>
            </a:extLst>
          </p:cNvPr>
          <p:cNvSpPr>
            <a:spLocks noGrp="1"/>
          </p:cNvSpPr>
          <p:nvPr>
            <p:ph type="title"/>
          </p:nvPr>
        </p:nvSpPr>
        <p:spPr/>
        <p:txBody>
          <a:bodyPr/>
          <a:lstStyle/>
          <a:p>
            <a:r>
              <a:rPr lang="en-US" dirty="0"/>
              <a:t>Biomedical Data Organizer (BDO)</a:t>
            </a:r>
          </a:p>
        </p:txBody>
      </p:sp>
      <p:sp>
        <p:nvSpPr>
          <p:cNvPr id="3" name="Content Placeholder 2">
            <a:extLst>
              <a:ext uri="{FF2B5EF4-FFF2-40B4-BE49-F238E27FC236}">
                <a16:creationId xmlns:a16="http://schemas.microsoft.com/office/drawing/2014/main" id="{2F205323-B5B2-4A4A-99E6-FD98C0FEE019}"/>
              </a:ext>
            </a:extLst>
          </p:cNvPr>
          <p:cNvSpPr>
            <a:spLocks noGrp="1"/>
          </p:cNvSpPr>
          <p:nvPr>
            <p:ph idx="1"/>
          </p:nvPr>
        </p:nvSpPr>
        <p:spPr>
          <a:xfrm>
            <a:off x="2411760" y="5772397"/>
            <a:ext cx="5410944" cy="752947"/>
          </a:xfrm>
        </p:spPr>
        <p:txBody>
          <a:bodyPr/>
          <a:lstStyle/>
          <a:p>
            <a:pPr marL="0" indent="0">
              <a:buNone/>
            </a:pPr>
            <a:r>
              <a:rPr lang="en-US" dirty="0"/>
              <a:t>System context diagram </a:t>
            </a:r>
          </a:p>
        </p:txBody>
      </p:sp>
      <p:pic>
        <p:nvPicPr>
          <p:cNvPr id="5" name="Picture 4">
            <a:extLst>
              <a:ext uri="{FF2B5EF4-FFF2-40B4-BE49-F238E27FC236}">
                <a16:creationId xmlns:a16="http://schemas.microsoft.com/office/drawing/2014/main" id="{FCF9FC09-AD67-42A0-ABAA-75E0334E40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05" y="2368872"/>
            <a:ext cx="8988389" cy="3076352"/>
          </a:xfrm>
          <a:prstGeom prst="rect">
            <a:avLst/>
          </a:prstGeom>
        </p:spPr>
      </p:pic>
    </p:spTree>
    <p:extLst>
      <p:ext uri="{BB962C8B-B14F-4D97-AF65-F5344CB8AC3E}">
        <p14:creationId xmlns:p14="http://schemas.microsoft.com/office/powerpoint/2010/main" val="2375915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520ED6-B50C-447B-8011-A86D4CAB0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74104"/>
            <a:ext cx="6022534" cy="6858000"/>
          </a:xfrm>
          <a:prstGeom prst="rect">
            <a:avLst/>
          </a:prstGeom>
        </p:spPr>
      </p:pic>
      <p:sp>
        <p:nvSpPr>
          <p:cNvPr id="6" name="Rectangle: Rounded Corners 5">
            <a:extLst>
              <a:ext uri="{FF2B5EF4-FFF2-40B4-BE49-F238E27FC236}">
                <a16:creationId xmlns:a16="http://schemas.microsoft.com/office/drawing/2014/main" id="{C1AE122E-D0A7-49E8-A489-8863989E0042}"/>
              </a:ext>
            </a:extLst>
          </p:cNvPr>
          <p:cNvSpPr/>
          <p:nvPr/>
        </p:nvSpPr>
        <p:spPr>
          <a:xfrm>
            <a:off x="3851920" y="620688"/>
            <a:ext cx="4104456" cy="6120680"/>
          </a:xfrm>
          <a:prstGeom prst="round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558F7A4B-C51F-458F-9280-B48785B10435}"/>
              </a:ext>
            </a:extLst>
          </p:cNvPr>
          <p:cNvSpPr/>
          <p:nvPr/>
        </p:nvSpPr>
        <p:spPr>
          <a:xfrm>
            <a:off x="1475656" y="3429000"/>
            <a:ext cx="3888431" cy="3414183"/>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E8AD002A-55B2-473C-9DC9-7FBE8DCD1972}"/>
              </a:ext>
            </a:extLst>
          </p:cNvPr>
          <p:cNvSpPr/>
          <p:nvPr/>
        </p:nvSpPr>
        <p:spPr>
          <a:xfrm>
            <a:off x="1475656" y="0"/>
            <a:ext cx="2929825" cy="3414183"/>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7A7D80C9-7819-4745-84B5-5129FEB40AA7}"/>
              </a:ext>
            </a:extLst>
          </p:cNvPr>
          <p:cNvSpPr txBox="1"/>
          <p:nvPr/>
        </p:nvSpPr>
        <p:spPr>
          <a:xfrm>
            <a:off x="6677560" y="1278609"/>
            <a:ext cx="1981568" cy="1384995"/>
          </a:xfrm>
          <a:prstGeom prst="rect">
            <a:avLst/>
          </a:prstGeom>
          <a:noFill/>
        </p:spPr>
        <p:txBody>
          <a:bodyPr wrap="none" rtlCol="0">
            <a:spAutoFit/>
          </a:bodyPr>
          <a:lstStyle/>
          <a:p>
            <a:r>
              <a:rPr lang="en-US" sz="2800" dirty="0"/>
              <a:t>Biomedical</a:t>
            </a:r>
          </a:p>
          <a:p>
            <a:r>
              <a:rPr lang="en-US" sz="2800" dirty="0"/>
              <a:t>sample</a:t>
            </a:r>
          </a:p>
          <a:p>
            <a:r>
              <a:rPr lang="en-US" sz="2800" dirty="0"/>
              <a:t>organization</a:t>
            </a:r>
          </a:p>
        </p:txBody>
      </p:sp>
      <p:sp>
        <p:nvSpPr>
          <p:cNvPr id="10" name="TextBox 9">
            <a:extLst>
              <a:ext uri="{FF2B5EF4-FFF2-40B4-BE49-F238E27FC236}">
                <a16:creationId xmlns:a16="http://schemas.microsoft.com/office/drawing/2014/main" id="{46F29326-D069-4499-81E0-CDF666E1E195}"/>
              </a:ext>
            </a:extLst>
          </p:cNvPr>
          <p:cNvSpPr txBox="1"/>
          <p:nvPr/>
        </p:nvSpPr>
        <p:spPr>
          <a:xfrm>
            <a:off x="111717" y="5542915"/>
            <a:ext cx="1606658" cy="954107"/>
          </a:xfrm>
          <a:prstGeom prst="rect">
            <a:avLst/>
          </a:prstGeom>
          <a:noFill/>
        </p:spPr>
        <p:txBody>
          <a:bodyPr wrap="none" rtlCol="0">
            <a:spAutoFit/>
          </a:bodyPr>
          <a:lstStyle/>
          <a:p>
            <a:r>
              <a:rPr lang="en-US" sz="2800" dirty="0"/>
              <a:t>Resource</a:t>
            </a:r>
          </a:p>
          <a:p>
            <a:r>
              <a:rPr lang="en-US" sz="2800" dirty="0"/>
              <a:t>allocation</a:t>
            </a:r>
          </a:p>
        </p:txBody>
      </p:sp>
      <p:sp>
        <p:nvSpPr>
          <p:cNvPr id="11" name="TextBox 10">
            <a:extLst>
              <a:ext uri="{FF2B5EF4-FFF2-40B4-BE49-F238E27FC236}">
                <a16:creationId xmlns:a16="http://schemas.microsoft.com/office/drawing/2014/main" id="{99D8C079-3C75-4B2B-BBFE-0E81F4D2CDCA}"/>
              </a:ext>
            </a:extLst>
          </p:cNvPr>
          <p:cNvSpPr txBox="1"/>
          <p:nvPr/>
        </p:nvSpPr>
        <p:spPr>
          <a:xfrm>
            <a:off x="-15969" y="360234"/>
            <a:ext cx="2433358" cy="954107"/>
          </a:xfrm>
          <a:prstGeom prst="rect">
            <a:avLst/>
          </a:prstGeom>
          <a:noFill/>
        </p:spPr>
        <p:txBody>
          <a:bodyPr wrap="none" rtlCol="0">
            <a:spAutoFit/>
          </a:bodyPr>
          <a:lstStyle/>
          <a:p>
            <a:r>
              <a:rPr lang="en-US" sz="2800" dirty="0"/>
              <a:t>Summarization</a:t>
            </a:r>
          </a:p>
          <a:p>
            <a:r>
              <a:rPr lang="en-US" sz="2800" dirty="0"/>
              <a:t>and monitoring</a:t>
            </a:r>
          </a:p>
        </p:txBody>
      </p:sp>
    </p:spTree>
    <p:extLst>
      <p:ext uri="{BB962C8B-B14F-4D97-AF65-F5344CB8AC3E}">
        <p14:creationId xmlns:p14="http://schemas.microsoft.com/office/powerpoint/2010/main" val="2307135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A09BA-DB2D-4BEC-AB76-74AA10EF61DC}"/>
              </a:ext>
            </a:extLst>
          </p:cNvPr>
          <p:cNvSpPr>
            <a:spLocks noGrp="1"/>
          </p:cNvSpPr>
          <p:nvPr>
            <p:ph type="title"/>
          </p:nvPr>
        </p:nvSpPr>
        <p:spPr/>
        <p:txBody>
          <a:bodyPr/>
          <a:lstStyle/>
          <a:p>
            <a:r>
              <a:rPr lang="en-US" dirty="0"/>
              <a:t>Design Database</a:t>
            </a:r>
          </a:p>
        </p:txBody>
      </p:sp>
      <p:pic>
        <p:nvPicPr>
          <p:cNvPr id="5" name="Picture 4">
            <a:extLst>
              <a:ext uri="{FF2B5EF4-FFF2-40B4-BE49-F238E27FC236}">
                <a16:creationId xmlns:a16="http://schemas.microsoft.com/office/drawing/2014/main" id="{3C859D46-1680-4B46-A305-177D410C44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387" y="1916832"/>
            <a:ext cx="8343900" cy="4410075"/>
          </a:xfrm>
          <a:prstGeom prst="rect">
            <a:avLst/>
          </a:prstGeom>
        </p:spPr>
      </p:pic>
    </p:spTree>
    <p:extLst>
      <p:ext uri="{BB962C8B-B14F-4D97-AF65-F5344CB8AC3E}">
        <p14:creationId xmlns:p14="http://schemas.microsoft.com/office/powerpoint/2010/main" val="360721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CAC16-DAD7-4F3F-80FB-16F1B657D21B}"/>
              </a:ext>
            </a:extLst>
          </p:cNvPr>
          <p:cNvSpPr>
            <a:spLocks noGrp="1"/>
          </p:cNvSpPr>
          <p:nvPr>
            <p:ph type="title"/>
          </p:nvPr>
        </p:nvSpPr>
        <p:spPr/>
        <p:txBody>
          <a:bodyPr/>
          <a:lstStyle/>
          <a:p>
            <a:pPr algn="ctr"/>
            <a:r>
              <a:rPr lang="en-US" dirty="0"/>
              <a:t>Describe processes</a:t>
            </a:r>
          </a:p>
        </p:txBody>
      </p:sp>
      <p:sp>
        <p:nvSpPr>
          <p:cNvPr id="3" name="Content Placeholder 2">
            <a:extLst>
              <a:ext uri="{FF2B5EF4-FFF2-40B4-BE49-F238E27FC236}">
                <a16:creationId xmlns:a16="http://schemas.microsoft.com/office/drawing/2014/main" id="{C156F6F0-898F-4E46-B396-E7A2B0997607}"/>
              </a:ext>
            </a:extLst>
          </p:cNvPr>
          <p:cNvSpPr>
            <a:spLocks noGrp="1"/>
          </p:cNvSpPr>
          <p:nvPr>
            <p:ph idx="1"/>
          </p:nvPr>
        </p:nvSpPr>
        <p:spPr>
          <a:xfrm>
            <a:off x="628650" y="2226469"/>
            <a:ext cx="7886700" cy="994172"/>
          </a:xfrm>
        </p:spPr>
        <p:txBody>
          <a:bodyPr>
            <a:normAutofit fontScale="92500"/>
          </a:bodyPr>
          <a:lstStyle/>
          <a:p>
            <a:r>
              <a:rPr lang="en-US" sz="2400" dirty="0"/>
              <a:t>Process description shows logistic steps of the pipeline operations, which correspond with operations in real world.</a:t>
            </a:r>
          </a:p>
        </p:txBody>
      </p:sp>
      <p:pic>
        <p:nvPicPr>
          <p:cNvPr id="5" name="Picture 4">
            <a:extLst>
              <a:ext uri="{FF2B5EF4-FFF2-40B4-BE49-F238E27FC236}">
                <a16:creationId xmlns:a16="http://schemas.microsoft.com/office/drawing/2014/main" id="{3DC649D7-D962-4FF5-B759-6F63BF2C85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33" y="4027800"/>
            <a:ext cx="9089667" cy="797131"/>
          </a:xfrm>
          <a:prstGeom prst="rect">
            <a:avLst/>
          </a:prstGeom>
        </p:spPr>
      </p:pic>
    </p:spTree>
    <p:extLst>
      <p:ext uri="{BB962C8B-B14F-4D97-AF65-F5344CB8AC3E}">
        <p14:creationId xmlns:p14="http://schemas.microsoft.com/office/powerpoint/2010/main" val="3955932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5EFD8-AD70-4878-8322-64EB81C110D9}"/>
              </a:ext>
            </a:extLst>
          </p:cNvPr>
          <p:cNvSpPr>
            <a:spLocks noGrp="1"/>
          </p:cNvSpPr>
          <p:nvPr>
            <p:ph type="title"/>
          </p:nvPr>
        </p:nvSpPr>
        <p:spPr/>
        <p:txBody>
          <a:bodyPr/>
          <a:lstStyle/>
          <a:p>
            <a:r>
              <a:rPr lang="en-US" dirty="0"/>
              <a:t>Phase 3: Coding work</a:t>
            </a:r>
          </a:p>
        </p:txBody>
      </p:sp>
      <p:sp>
        <p:nvSpPr>
          <p:cNvPr id="3" name="Content Placeholder 2">
            <a:extLst>
              <a:ext uri="{FF2B5EF4-FFF2-40B4-BE49-F238E27FC236}">
                <a16:creationId xmlns:a16="http://schemas.microsoft.com/office/drawing/2014/main" id="{347F4CCC-8A8B-49BD-BE8F-FFD9B2248EA8}"/>
              </a:ext>
            </a:extLst>
          </p:cNvPr>
          <p:cNvSpPr>
            <a:spLocks noGrp="1"/>
          </p:cNvSpPr>
          <p:nvPr>
            <p:ph idx="1"/>
          </p:nvPr>
        </p:nvSpPr>
        <p:spPr/>
        <p:txBody>
          <a:bodyPr/>
          <a:lstStyle/>
          <a:p>
            <a:r>
              <a:rPr lang="en-US" dirty="0"/>
              <a:t>coding…..</a:t>
            </a:r>
          </a:p>
          <a:p>
            <a:r>
              <a:rPr lang="en-US" dirty="0"/>
              <a:t>coding…..</a:t>
            </a:r>
          </a:p>
          <a:p>
            <a:r>
              <a:rPr lang="en-US" dirty="0"/>
              <a:t>coding…..</a:t>
            </a:r>
          </a:p>
        </p:txBody>
      </p:sp>
    </p:spTree>
    <p:extLst>
      <p:ext uri="{BB962C8B-B14F-4D97-AF65-F5344CB8AC3E}">
        <p14:creationId xmlns:p14="http://schemas.microsoft.com/office/powerpoint/2010/main" val="526491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B96ED-2599-4A25-A9B7-2C50A43AA663}"/>
              </a:ext>
            </a:extLst>
          </p:cNvPr>
          <p:cNvSpPr>
            <a:spLocks noGrp="1"/>
          </p:cNvSpPr>
          <p:nvPr>
            <p:ph type="title"/>
          </p:nvPr>
        </p:nvSpPr>
        <p:spPr/>
        <p:txBody>
          <a:bodyPr/>
          <a:lstStyle/>
          <a:p>
            <a:r>
              <a:rPr lang="en-US" dirty="0"/>
              <a:t>Phase 4: Pipeline Testing</a:t>
            </a:r>
          </a:p>
        </p:txBody>
      </p:sp>
      <p:pic>
        <p:nvPicPr>
          <p:cNvPr id="13" name="Picture 12">
            <a:extLst>
              <a:ext uri="{FF2B5EF4-FFF2-40B4-BE49-F238E27FC236}">
                <a16:creationId xmlns:a16="http://schemas.microsoft.com/office/drawing/2014/main" id="{B5DEDEB1-478C-40E9-BC16-F405105E53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8270" y="1628800"/>
            <a:ext cx="7283010" cy="4597400"/>
          </a:xfrm>
          <a:prstGeom prst="rect">
            <a:avLst/>
          </a:prstGeom>
        </p:spPr>
      </p:pic>
    </p:spTree>
    <p:extLst>
      <p:ext uri="{BB962C8B-B14F-4D97-AF65-F5344CB8AC3E}">
        <p14:creationId xmlns:p14="http://schemas.microsoft.com/office/powerpoint/2010/main" val="2963351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6382C-4ADD-44E6-9ACB-003DC420280D}"/>
              </a:ext>
            </a:extLst>
          </p:cNvPr>
          <p:cNvSpPr>
            <a:spLocks noGrp="1"/>
          </p:cNvSpPr>
          <p:nvPr>
            <p:ph type="title"/>
          </p:nvPr>
        </p:nvSpPr>
        <p:spPr/>
        <p:txBody>
          <a:bodyPr/>
          <a:lstStyle/>
          <a:p>
            <a:r>
              <a:rPr lang="en-US" dirty="0"/>
              <a:t>Task management</a:t>
            </a:r>
          </a:p>
        </p:txBody>
      </p:sp>
      <p:sp>
        <p:nvSpPr>
          <p:cNvPr id="3" name="Content Placeholder 2">
            <a:extLst>
              <a:ext uri="{FF2B5EF4-FFF2-40B4-BE49-F238E27FC236}">
                <a16:creationId xmlns:a16="http://schemas.microsoft.com/office/drawing/2014/main" id="{FF1AF5C9-27C2-4B7F-81A2-630F24A9C97F}"/>
              </a:ext>
            </a:extLst>
          </p:cNvPr>
          <p:cNvSpPr>
            <a:spLocks noGrp="1"/>
          </p:cNvSpPr>
          <p:nvPr>
            <p:ph idx="1"/>
          </p:nvPr>
        </p:nvSpPr>
        <p:spPr/>
        <p:txBody>
          <a:bodyPr/>
          <a:lstStyle/>
          <a:p>
            <a:r>
              <a:rPr lang="en-US" dirty="0"/>
              <a:t>Tasks list</a:t>
            </a:r>
          </a:p>
          <a:p>
            <a:r>
              <a:rPr lang="en-US" dirty="0"/>
              <a:t>Tasks decomposition</a:t>
            </a:r>
          </a:p>
          <a:p>
            <a:r>
              <a:rPr lang="en-US" dirty="0"/>
              <a:t>Scheduling:  GANTT Charts</a:t>
            </a:r>
          </a:p>
          <a:p>
            <a:r>
              <a:rPr lang="en-US" dirty="0"/>
              <a:t>Source code management: Git/</a:t>
            </a:r>
            <a:r>
              <a:rPr lang="en-US" dirty="0" err="1"/>
              <a:t>Github</a:t>
            </a:r>
            <a:endParaRPr lang="en-US" dirty="0"/>
          </a:p>
          <a:p>
            <a:r>
              <a:rPr lang="en-US" dirty="0"/>
              <a:t>Update progress regularly.</a:t>
            </a:r>
          </a:p>
          <a:p>
            <a:r>
              <a:rPr lang="en-US" dirty="0"/>
              <a:t>Documentation: development plan, progress report, pipeline manual, delivery report</a:t>
            </a:r>
          </a:p>
        </p:txBody>
      </p:sp>
    </p:spTree>
    <p:extLst>
      <p:ext uri="{BB962C8B-B14F-4D97-AF65-F5344CB8AC3E}">
        <p14:creationId xmlns:p14="http://schemas.microsoft.com/office/powerpoint/2010/main" val="1168594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C466-D4A9-45DA-A541-B54A92746D38}"/>
              </a:ext>
            </a:extLst>
          </p:cNvPr>
          <p:cNvSpPr>
            <a:spLocks noGrp="1"/>
          </p:cNvSpPr>
          <p:nvPr>
            <p:ph type="title"/>
          </p:nvPr>
        </p:nvSpPr>
        <p:spPr>
          <a:xfrm>
            <a:off x="628650" y="162"/>
            <a:ext cx="7886700" cy="994172"/>
          </a:xfrm>
        </p:spPr>
        <p:txBody>
          <a:bodyPr/>
          <a:lstStyle/>
          <a:p>
            <a:pPr algn="ctr"/>
            <a:r>
              <a:rPr lang="en-US" dirty="0"/>
              <a:t>Work breakdown structure</a:t>
            </a:r>
          </a:p>
        </p:txBody>
      </p:sp>
      <p:pic>
        <p:nvPicPr>
          <p:cNvPr id="5" name="Picture 4">
            <a:extLst>
              <a:ext uri="{FF2B5EF4-FFF2-40B4-BE49-F238E27FC236}">
                <a16:creationId xmlns:a16="http://schemas.microsoft.com/office/drawing/2014/main" id="{F65A1FD8-C34C-48E5-993F-12BBF531C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1484784"/>
            <a:ext cx="8767174" cy="5171010"/>
          </a:xfrm>
          <a:prstGeom prst="rect">
            <a:avLst/>
          </a:prstGeom>
        </p:spPr>
      </p:pic>
    </p:spTree>
    <p:extLst>
      <p:ext uri="{BB962C8B-B14F-4D97-AF65-F5344CB8AC3E}">
        <p14:creationId xmlns:p14="http://schemas.microsoft.com/office/powerpoint/2010/main" val="1700792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F67DA-93E9-4DC6-B40C-D029F6B309FE}"/>
              </a:ext>
            </a:extLst>
          </p:cNvPr>
          <p:cNvSpPr>
            <a:spLocks noGrp="1"/>
          </p:cNvSpPr>
          <p:nvPr>
            <p:ph type="title"/>
          </p:nvPr>
        </p:nvSpPr>
        <p:spPr>
          <a:xfrm>
            <a:off x="628650" y="851638"/>
            <a:ext cx="7886700" cy="994172"/>
          </a:xfrm>
        </p:spPr>
        <p:txBody>
          <a:bodyPr>
            <a:normAutofit fontScale="90000"/>
          </a:bodyPr>
          <a:lstStyle/>
          <a:p>
            <a:pPr algn="ctr"/>
            <a:r>
              <a:rPr lang="en-US" dirty="0"/>
              <a:t>Use GANTT Charts to manage tasks</a:t>
            </a:r>
          </a:p>
        </p:txBody>
      </p:sp>
      <p:pic>
        <p:nvPicPr>
          <p:cNvPr id="3" name="Picture 2">
            <a:extLst>
              <a:ext uri="{FF2B5EF4-FFF2-40B4-BE49-F238E27FC236}">
                <a16:creationId xmlns:a16="http://schemas.microsoft.com/office/drawing/2014/main" id="{0BE40337-9B8F-426E-AC39-D1EEC400EA88}"/>
              </a:ext>
            </a:extLst>
          </p:cNvPr>
          <p:cNvPicPr/>
          <p:nvPr/>
        </p:nvPicPr>
        <p:blipFill rotWithShape="1">
          <a:blip r:embed="rId3"/>
          <a:srcRect l="11846" t="28522" r="4503" b="45268"/>
          <a:stretch/>
        </p:blipFill>
        <p:spPr bwMode="auto">
          <a:xfrm>
            <a:off x="1097348" y="1904236"/>
            <a:ext cx="6949304" cy="1303734"/>
          </a:xfrm>
          <a:prstGeom prst="rect">
            <a:avLst/>
          </a:prstGeom>
          <a:ln>
            <a:noFill/>
          </a:ln>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5A9490FE-F9A3-4345-BCA7-61BF457A0B34}"/>
              </a:ext>
            </a:extLst>
          </p:cNvPr>
          <p:cNvPicPr/>
          <p:nvPr/>
        </p:nvPicPr>
        <p:blipFill rotWithShape="1">
          <a:blip r:embed="rId4"/>
          <a:srcRect b="9294"/>
          <a:stretch/>
        </p:blipFill>
        <p:spPr bwMode="auto">
          <a:xfrm>
            <a:off x="2561254" y="3266396"/>
            <a:ext cx="4352730" cy="246051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75493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A7318-9D4E-4F07-9142-EA7D73C3FB32}"/>
              </a:ext>
            </a:extLst>
          </p:cNvPr>
          <p:cNvSpPr>
            <a:spLocks noGrp="1"/>
          </p:cNvSpPr>
          <p:nvPr>
            <p:ph type="title"/>
          </p:nvPr>
        </p:nvSpPr>
        <p:spPr/>
        <p:txBody>
          <a:bodyPr/>
          <a:lstStyle/>
          <a:p>
            <a:r>
              <a:rPr lang="en-US" dirty="0"/>
              <a:t>Risk Management</a:t>
            </a:r>
          </a:p>
        </p:txBody>
      </p:sp>
      <p:sp>
        <p:nvSpPr>
          <p:cNvPr id="3" name="Content Placeholder 2">
            <a:extLst>
              <a:ext uri="{FF2B5EF4-FFF2-40B4-BE49-F238E27FC236}">
                <a16:creationId xmlns:a16="http://schemas.microsoft.com/office/drawing/2014/main" id="{95BC64E0-777A-4044-A3AC-C0ECFDFD05DF}"/>
              </a:ext>
            </a:extLst>
          </p:cNvPr>
          <p:cNvSpPr>
            <a:spLocks noGrp="1"/>
          </p:cNvSpPr>
          <p:nvPr>
            <p:ph idx="1"/>
          </p:nvPr>
        </p:nvSpPr>
        <p:spPr>
          <a:xfrm>
            <a:off x="244426" y="1556792"/>
            <a:ext cx="3129176" cy="2088232"/>
          </a:xfrm>
          <a:ln>
            <a:solidFill>
              <a:schemeClr val="accent1"/>
            </a:solidFill>
          </a:ln>
        </p:spPr>
        <p:txBody>
          <a:bodyPr>
            <a:normAutofit/>
          </a:bodyPr>
          <a:lstStyle/>
          <a:p>
            <a:r>
              <a:rPr lang="en-US" sz="2800" dirty="0"/>
              <a:t>Delay</a:t>
            </a:r>
          </a:p>
          <a:p>
            <a:r>
              <a:rPr lang="en-US" sz="2800" dirty="0"/>
              <a:t>Technical issues</a:t>
            </a:r>
          </a:p>
          <a:p>
            <a:r>
              <a:rPr lang="en-US" sz="2800" dirty="0"/>
              <a:t>Conflicts</a:t>
            </a:r>
          </a:p>
          <a:p>
            <a:r>
              <a:rPr lang="en-US" sz="2800" dirty="0"/>
              <a:t>Project failure</a:t>
            </a:r>
          </a:p>
        </p:txBody>
      </p:sp>
      <p:sp>
        <p:nvSpPr>
          <p:cNvPr id="4" name="Content Placeholder 2">
            <a:extLst>
              <a:ext uri="{FF2B5EF4-FFF2-40B4-BE49-F238E27FC236}">
                <a16:creationId xmlns:a16="http://schemas.microsoft.com/office/drawing/2014/main" id="{B056982A-A5F7-49B6-843E-A6EA1131DBB2}"/>
              </a:ext>
            </a:extLst>
          </p:cNvPr>
          <p:cNvSpPr txBox="1">
            <a:spLocks/>
          </p:cNvSpPr>
          <p:nvPr/>
        </p:nvSpPr>
        <p:spPr>
          <a:xfrm>
            <a:off x="939143" y="4048450"/>
            <a:ext cx="6120680" cy="2619672"/>
          </a:xfrm>
          <a:prstGeom prst="rect">
            <a:avLst/>
          </a:prstGeom>
          <a:ln>
            <a:solidFill>
              <a:schemeClr val="accent1"/>
            </a:solid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a:t>Clarify requirements</a:t>
            </a:r>
          </a:p>
          <a:p>
            <a:r>
              <a:rPr lang="en-US" sz="2800" dirty="0"/>
              <a:t>Quick but regular delivery</a:t>
            </a:r>
          </a:p>
          <a:p>
            <a:r>
              <a:rPr lang="en-US" sz="2800" dirty="0"/>
              <a:t>Make project visible</a:t>
            </a:r>
          </a:p>
          <a:p>
            <a:r>
              <a:rPr lang="en-US" sz="2800" dirty="0"/>
              <a:t>Documentation and memo</a:t>
            </a:r>
          </a:p>
          <a:p>
            <a:r>
              <a:rPr lang="en-US" sz="2800" dirty="0"/>
              <a:t>Detect risks as early as possible</a:t>
            </a:r>
          </a:p>
        </p:txBody>
      </p:sp>
      <p:sp>
        <p:nvSpPr>
          <p:cNvPr id="5" name="Arrow: Right 4">
            <a:extLst>
              <a:ext uri="{FF2B5EF4-FFF2-40B4-BE49-F238E27FC236}">
                <a16:creationId xmlns:a16="http://schemas.microsoft.com/office/drawing/2014/main" id="{4F7D87E9-1CB9-4CCD-B9EA-87376C0C2773}"/>
              </a:ext>
            </a:extLst>
          </p:cNvPr>
          <p:cNvSpPr/>
          <p:nvPr/>
        </p:nvSpPr>
        <p:spPr>
          <a:xfrm>
            <a:off x="3756472" y="2309375"/>
            <a:ext cx="985624" cy="5830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796A9FC2-388F-4384-8448-AC6C0F79EE9E}"/>
              </a:ext>
            </a:extLst>
          </p:cNvPr>
          <p:cNvSpPr txBox="1">
            <a:spLocks/>
          </p:cNvSpPr>
          <p:nvPr/>
        </p:nvSpPr>
        <p:spPr>
          <a:xfrm>
            <a:off x="5148064" y="1499714"/>
            <a:ext cx="3888432" cy="2202388"/>
          </a:xfrm>
          <a:prstGeom prst="rect">
            <a:avLst/>
          </a:prstGeom>
          <a:ln>
            <a:solidFill>
              <a:schemeClr val="accent1"/>
            </a:solid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a:t>Unclear requirements</a:t>
            </a:r>
          </a:p>
          <a:p>
            <a:r>
              <a:rPr lang="en-US" sz="2800" dirty="0"/>
              <a:t>Unpredictable changes</a:t>
            </a:r>
          </a:p>
          <a:p>
            <a:r>
              <a:rPr lang="en-US" sz="2800" dirty="0"/>
              <a:t>Communication</a:t>
            </a:r>
          </a:p>
          <a:p>
            <a:r>
              <a:rPr lang="en-US" sz="2800" dirty="0"/>
              <a:t>Invisible information</a:t>
            </a:r>
          </a:p>
        </p:txBody>
      </p:sp>
      <p:sp>
        <p:nvSpPr>
          <p:cNvPr id="8" name="Arrow: Bent 7">
            <a:extLst>
              <a:ext uri="{FF2B5EF4-FFF2-40B4-BE49-F238E27FC236}">
                <a16:creationId xmlns:a16="http://schemas.microsoft.com/office/drawing/2014/main" id="{B4D456FB-0389-43A4-AB84-FE96EEBFCD7C}"/>
              </a:ext>
            </a:extLst>
          </p:cNvPr>
          <p:cNvSpPr/>
          <p:nvPr/>
        </p:nvSpPr>
        <p:spPr>
          <a:xfrm rot="10800000">
            <a:off x="7524328" y="4509119"/>
            <a:ext cx="864096" cy="93610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905199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A75FE-D6F9-4D88-B52F-AF16A25D45D2}"/>
              </a:ext>
            </a:extLst>
          </p:cNvPr>
          <p:cNvSpPr>
            <a:spLocks noGrp="1"/>
          </p:cNvSpPr>
          <p:nvPr>
            <p:ph type="title"/>
          </p:nvPr>
        </p:nvSpPr>
        <p:spPr/>
        <p:txBody>
          <a:bodyPr/>
          <a:lstStyle/>
          <a:p>
            <a:r>
              <a:rPr lang="en-US" dirty="0"/>
              <a:t>On Time / Delay Delivery</a:t>
            </a:r>
          </a:p>
        </p:txBody>
      </p:sp>
      <p:pic>
        <p:nvPicPr>
          <p:cNvPr id="3" name="Picture 2">
            <a:extLst>
              <a:ext uri="{FF2B5EF4-FFF2-40B4-BE49-F238E27FC236}">
                <a16:creationId xmlns:a16="http://schemas.microsoft.com/office/drawing/2014/main" id="{8C3F261B-F93F-4891-BAEC-47DB4E7DA494}"/>
              </a:ext>
            </a:extLst>
          </p:cNvPr>
          <p:cNvPicPr>
            <a:picLocks noChangeAspect="1" noChangeArrowheads="1"/>
          </p:cNvPicPr>
          <p:nvPr/>
        </p:nvPicPr>
        <p:blipFill>
          <a:blip r:embed="rId3" cstate="print"/>
          <a:srcRect/>
          <a:stretch>
            <a:fillRect/>
          </a:stretch>
        </p:blipFill>
        <p:spPr bwMode="auto">
          <a:xfrm>
            <a:off x="3851920" y="4229460"/>
            <a:ext cx="4923044" cy="2350597"/>
          </a:xfrm>
          <a:prstGeom prst="rect">
            <a:avLst/>
          </a:prstGeom>
          <a:noFill/>
          <a:ln w="9525">
            <a:noFill/>
            <a:miter lim="800000"/>
            <a:headEnd/>
            <a:tailEnd/>
          </a:ln>
          <a:effectLst/>
        </p:spPr>
      </p:pic>
      <p:pic>
        <p:nvPicPr>
          <p:cNvPr id="4" name="Picture 2">
            <a:extLst>
              <a:ext uri="{FF2B5EF4-FFF2-40B4-BE49-F238E27FC236}">
                <a16:creationId xmlns:a16="http://schemas.microsoft.com/office/drawing/2014/main" id="{C9768ED1-5000-4068-9D80-F8F5C4163DA3}"/>
              </a:ext>
            </a:extLst>
          </p:cNvPr>
          <p:cNvPicPr>
            <a:picLocks noChangeAspect="1" noChangeArrowheads="1"/>
          </p:cNvPicPr>
          <p:nvPr/>
        </p:nvPicPr>
        <p:blipFill>
          <a:blip r:embed="rId4" cstate="print"/>
          <a:srcRect/>
          <a:stretch>
            <a:fillRect/>
          </a:stretch>
        </p:blipFill>
        <p:spPr bwMode="auto">
          <a:xfrm>
            <a:off x="118143" y="1514158"/>
            <a:ext cx="5490511" cy="2592288"/>
          </a:xfrm>
          <a:prstGeom prst="rect">
            <a:avLst/>
          </a:prstGeom>
          <a:noFill/>
          <a:ln w="9525">
            <a:noFill/>
            <a:miter lim="800000"/>
            <a:headEnd/>
            <a:tailEnd/>
          </a:ln>
        </p:spPr>
      </p:pic>
      <p:sp>
        <p:nvSpPr>
          <p:cNvPr id="5" name="TextBox 4">
            <a:extLst>
              <a:ext uri="{FF2B5EF4-FFF2-40B4-BE49-F238E27FC236}">
                <a16:creationId xmlns:a16="http://schemas.microsoft.com/office/drawing/2014/main" id="{37862706-B653-43AD-B19A-EDB9524EA424}"/>
              </a:ext>
            </a:extLst>
          </p:cNvPr>
          <p:cNvSpPr txBox="1"/>
          <p:nvPr/>
        </p:nvSpPr>
        <p:spPr>
          <a:xfrm>
            <a:off x="5608654" y="1514158"/>
            <a:ext cx="3078146" cy="954107"/>
          </a:xfrm>
          <a:prstGeom prst="rect">
            <a:avLst/>
          </a:prstGeom>
          <a:noFill/>
        </p:spPr>
        <p:txBody>
          <a:bodyPr wrap="square" rtlCol="0">
            <a:spAutoFit/>
          </a:bodyPr>
          <a:lstStyle/>
          <a:p>
            <a:r>
              <a:rPr lang="en-US" sz="2800" dirty="0"/>
              <a:t>On-time delivered: </a:t>
            </a:r>
            <a:br>
              <a:rPr lang="en-US" sz="2800" dirty="0"/>
            </a:br>
            <a:r>
              <a:rPr lang="en-US" sz="2800" dirty="0"/>
              <a:t>2015.08-2016.04</a:t>
            </a:r>
          </a:p>
        </p:txBody>
      </p:sp>
      <p:sp>
        <p:nvSpPr>
          <p:cNvPr id="6" name="TextBox 5">
            <a:extLst>
              <a:ext uri="{FF2B5EF4-FFF2-40B4-BE49-F238E27FC236}">
                <a16:creationId xmlns:a16="http://schemas.microsoft.com/office/drawing/2014/main" id="{BA743FAF-B08C-4D2C-A3CD-FD0FFDD241D7}"/>
              </a:ext>
            </a:extLst>
          </p:cNvPr>
          <p:cNvSpPr txBox="1"/>
          <p:nvPr/>
        </p:nvSpPr>
        <p:spPr>
          <a:xfrm>
            <a:off x="773774" y="5748964"/>
            <a:ext cx="3078146" cy="954107"/>
          </a:xfrm>
          <a:prstGeom prst="rect">
            <a:avLst/>
          </a:prstGeom>
          <a:noFill/>
        </p:spPr>
        <p:txBody>
          <a:bodyPr wrap="square" rtlCol="0">
            <a:spAutoFit/>
          </a:bodyPr>
          <a:lstStyle/>
          <a:p>
            <a:r>
              <a:rPr lang="en-US" sz="2800" dirty="0"/>
              <a:t>Delayed: </a:t>
            </a:r>
            <a:br>
              <a:rPr lang="en-US" sz="2800" dirty="0"/>
            </a:br>
            <a:r>
              <a:rPr lang="en-US" sz="2800" dirty="0"/>
              <a:t>2016.10-2018.01</a:t>
            </a:r>
          </a:p>
        </p:txBody>
      </p:sp>
    </p:spTree>
    <p:extLst>
      <p:ext uri="{BB962C8B-B14F-4D97-AF65-F5344CB8AC3E}">
        <p14:creationId xmlns:p14="http://schemas.microsoft.com/office/powerpoint/2010/main" val="2110877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513EE-F5B4-4870-BF16-6959E6CCF077}"/>
              </a:ext>
            </a:extLst>
          </p:cNvPr>
          <p:cNvSpPr>
            <a:spLocks noGrp="1"/>
          </p:cNvSpPr>
          <p:nvPr>
            <p:ph type="title"/>
          </p:nvPr>
        </p:nvSpPr>
        <p:spPr/>
        <p:txBody>
          <a:bodyPr>
            <a:normAutofit fontScale="90000"/>
          </a:bodyPr>
          <a:lstStyle/>
          <a:p>
            <a:r>
              <a:rPr lang="en-US" dirty="0"/>
              <a:t>Use data to make your comments convincing</a:t>
            </a:r>
          </a:p>
        </p:txBody>
      </p:sp>
      <p:pic>
        <p:nvPicPr>
          <p:cNvPr id="4" name="Picture 3">
            <a:extLst>
              <a:ext uri="{FF2B5EF4-FFF2-40B4-BE49-F238E27FC236}">
                <a16:creationId xmlns:a16="http://schemas.microsoft.com/office/drawing/2014/main" id="{7E8D29C7-96C7-4C4D-8D76-71954B6342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866" y="1844824"/>
            <a:ext cx="7192267" cy="4522514"/>
          </a:xfrm>
          <a:prstGeom prst="rect">
            <a:avLst/>
          </a:prstGeom>
        </p:spPr>
      </p:pic>
    </p:spTree>
    <p:extLst>
      <p:ext uri="{BB962C8B-B14F-4D97-AF65-F5344CB8AC3E}">
        <p14:creationId xmlns:p14="http://schemas.microsoft.com/office/powerpoint/2010/main" val="88004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II: Development of bioinformatics pipelines</a:t>
            </a:r>
            <a:endParaRPr lang="zh-CN" altLang="en-US" dirty="0"/>
          </a:p>
        </p:txBody>
      </p:sp>
      <p:sp>
        <p:nvSpPr>
          <p:cNvPr id="3" name="TextBox 2"/>
          <p:cNvSpPr txBox="1"/>
          <p:nvPr/>
        </p:nvSpPr>
        <p:spPr>
          <a:xfrm>
            <a:off x="899592" y="1844824"/>
            <a:ext cx="7416824" cy="1384995"/>
          </a:xfrm>
          <a:prstGeom prst="rect">
            <a:avLst/>
          </a:prstGeom>
          <a:noFill/>
        </p:spPr>
        <p:txBody>
          <a:bodyPr wrap="square" rtlCol="0">
            <a:spAutoFit/>
          </a:bodyPr>
          <a:lstStyle/>
          <a:p>
            <a:r>
              <a:rPr lang="en-US" altLang="zh-CN" sz="2800" b="1" dirty="0" err="1"/>
              <a:t>PhIP</a:t>
            </a:r>
            <a:r>
              <a:rPr lang="en-US" altLang="zh-CN" sz="2800" b="1" dirty="0"/>
              <a:t>-Seq Analyzer </a:t>
            </a:r>
            <a:r>
              <a:rPr lang="en-US" altLang="zh-CN" sz="2800" dirty="0"/>
              <a:t>for </a:t>
            </a:r>
            <a:r>
              <a:rPr lang="en-US" altLang="zh-CN" sz="2800" dirty="0" err="1"/>
              <a:t>PhIP</a:t>
            </a:r>
            <a:r>
              <a:rPr lang="en-US" altLang="zh-CN" sz="2800" dirty="0"/>
              <a:t>-Seq data analysis</a:t>
            </a:r>
          </a:p>
          <a:p>
            <a:r>
              <a:rPr lang="en-US" altLang="zh-CN" sz="2800" b="1" dirty="0" err="1"/>
              <a:t>eRNA</a:t>
            </a:r>
            <a:r>
              <a:rPr lang="en-US" altLang="zh-CN" sz="2800" dirty="0"/>
              <a:t> for mRNA-Seq data analysis</a:t>
            </a:r>
          </a:p>
          <a:p>
            <a:r>
              <a:rPr lang="en-US" altLang="zh-CN" sz="2800" b="1" dirty="0"/>
              <a:t>3C Analyzer</a:t>
            </a:r>
            <a:r>
              <a:rPr lang="en-US" altLang="zh-CN" sz="2800" dirty="0"/>
              <a:t> for 3C-Seq data analysis</a:t>
            </a:r>
          </a:p>
        </p:txBody>
      </p:sp>
    </p:spTree>
    <p:extLst>
      <p:ext uri="{BB962C8B-B14F-4D97-AF65-F5344CB8AC3E}">
        <p14:creationId xmlns:p14="http://schemas.microsoft.com/office/powerpoint/2010/main" val="35667533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Grp="1" noChangeArrowheads="1"/>
          </p:cNvSpPr>
          <p:nvPr>
            <p:ph type="title"/>
          </p:nvPr>
        </p:nvSpPr>
        <p:spPr>
          <a:xfrm>
            <a:off x="456481" y="0"/>
            <a:ext cx="8228160" cy="1144921"/>
          </a:xfrm>
          <a:ln/>
        </p:spPr>
        <p:txBody>
          <a:bodyPr tIns="35268">
            <a:normAutofit fontScale="90000"/>
          </a:bodyPr>
          <a:lstStyle/>
          <a:p>
            <a:pP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dirty="0" err="1"/>
              <a:t>PhIP</a:t>
            </a:r>
            <a:r>
              <a:rPr lang="en-US" dirty="0"/>
              <a:t> Complex and </a:t>
            </a:r>
            <a:r>
              <a:rPr lang="en-US" dirty="0" err="1"/>
              <a:t>PhIP</a:t>
            </a:r>
            <a:r>
              <a:rPr lang="en-US" dirty="0"/>
              <a:t>-Seq Analyzer</a:t>
            </a:r>
          </a:p>
        </p:txBody>
      </p:sp>
      <p:pic>
        <p:nvPicPr>
          <p:cNvPr id="5122" name="Picture 2"/>
          <p:cNvPicPr>
            <a:picLocks noChangeAspect="1" noChangeArrowheads="1"/>
          </p:cNvPicPr>
          <p:nvPr/>
        </p:nvPicPr>
        <p:blipFill>
          <a:blip r:embed="rId3" cstate="print"/>
          <a:srcRect t="4544" r="8235" b="22726"/>
          <a:stretch>
            <a:fillRect/>
          </a:stretch>
        </p:blipFill>
        <p:spPr bwMode="auto">
          <a:xfrm>
            <a:off x="456481" y="1044128"/>
            <a:ext cx="5474880" cy="4761136"/>
          </a:xfrm>
          <a:prstGeom prst="rect">
            <a:avLst/>
          </a:prstGeom>
          <a:noFill/>
          <a:ln w="9525" cap="flat">
            <a:noFill/>
            <a:round/>
            <a:headEnd/>
            <a:tailEnd/>
          </a:ln>
          <a:effectLst/>
        </p:spPr>
      </p:pic>
      <p:sp>
        <p:nvSpPr>
          <p:cNvPr id="5" name="TextBox 4"/>
          <p:cNvSpPr txBox="1"/>
          <p:nvPr/>
        </p:nvSpPr>
        <p:spPr>
          <a:xfrm>
            <a:off x="5652120" y="4955247"/>
            <a:ext cx="3709862" cy="369332"/>
          </a:xfrm>
          <a:prstGeom prst="rect">
            <a:avLst/>
          </a:prstGeom>
          <a:noFill/>
        </p:spPr>
        <p:txBody>
          <a:bodyPr wrap="none" rtlCol="0">
            <a:spAutoFit/>
          </a:bodyPr>
          <a:lstStyle/>
          <a:p>
            <a:r>
              <a:rPr lang="en-US" altLang="zh-CN" i="1" dirty="0"/>
              <a:t>Nat. </a:t>
            </a:r>
            <a:r>
              <a:rPr lang="en-US" altLang="zh-CN" i="1" dirty="0" err="1"/>
              <a:t>Biotechnol</a:t>
            </a:r>
            <a:r>
              <a:rPr lang="en-US" altLang="zh-CN" dirty="0"/>
              <a:t>. 2014, 29(6):535-541.</a:t>
            </a:r>
            <a:endParaRPr lang="zh-CN" altLang="en-US" dirty="0"/>
          </a:p>
        </p:txBody>
      </p:sp>
      <p:sp>
        <p:nvSpPr>
          <p:cNvPr id="6" name="内容占位符 2">
            <a:extLst>
              <a:ext uri="{FF2B5EF4-FFF2-40B4-BE49-F238E27FC236}">
                <a16:creationId xmlns:a16="http://schemas.microsoft.com/office/drawing/2014/main" id="{F2366932-FEE2-4B78-AFD9-FBB762AFE513}"/>
              </a:ext>
            </a:extLst>
          </p:cNvPr>
          <p:cNvSpPr>
            <a:spLocks noGrp="1"/>
          </p:cNvSpPr>
          <p:nvPr>
            <p:ph idx="1"/>
          </p:nvPr>
        </p:nvSpPr>
        <p:spPr>
          <a:xfrm>
            <a:off x="529401" y="5805264"/>
            <a:ext cx="8229600" cy="824955"/>
          </a:xfrm>
        </p:spPr>
        <p:txBody>
          <a:bodyPr>
            <a:normAutofit fontScale="85000" lnSpcReduction="20000"/>
          </a:bodyPr>
          <a:lstStyle/>
          <a:p>
            <a:r>
              <a:rPr lang="en-US" altLang="zh-CN" dirty="0"/>
              <a:t>The Python pipeline: https://github.com/LarmanLab/PhIP-Seq-Analyzer.</a:t>
            </a:r>
            <a:endParaRPr lang="zh-CN" altLang="en-US" dirty="0"/>
          </a:p>
          <a:p>
            <a:endParaRPr lang="zh-CN" altLang="en-US" dirty="0"/>
          </a:p>
        </p:txBody>
      </p:sp>
    </p:spTree>
    <p:extLst>
      <p:ext uri="{BB962C8B-B14F-4D97-AF65-F5344CB8AC3E}">
        <p14:creationId xmlns:p14="http://schemas.microsoft.com/office/powerpoint/2010/main" val="258935299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0"/>
            <a:ext cx="8432290" cy="3683249"/>
          </a:xfrm>
          <a:prstGeom prst="rect">
            <a:avLst/>
          </a:prstGeom>
          <a:noFill/>
          <a:ln w="9525">
            <a:noFill/>
            <a:miter lim="800000"/>
            <a:headEnd/>
            <a:tailEnd/>
          </a:ln>
        </p:spPr>
      </p:pic>
      <p:pic>
        <p:nvPicPr>
          <p:cNvPr id="5" name="Picture 2"/>
          <p:cNvPicPr>
            <a:picLocks noChangeAspect="1" noChangeArrowheads="1"/>
          </p:cNvPicPr>
          <p:nvPr/>
        </p:nvPicPr>
        <p:blipFill>
          <a:blip r:embed="rId4" cstate="print"/>
          <a:srcRect/>
          <a:stretch>
            <a:fillRect/>
          </a:stretch>
        </p:blipFill>
        <p:spPr bwMode="auto">
          <a:xfrm>
            <a:off x="4572001" y="2907074"/>
            <a:ext cx="4572000" cy="3950926"/>
          </a:xfrm>
          <a:prstGeom prst="rect">
            <a:avLst/>
          </a:prstGeom>
          <a:noFill/>
          <a:ln w="9525">
            <a:noFill/>
            <a:miter lim="800000"/>
            <a:headEnd/>
            <a:tailEnd/>
          </a:ln>
        </p:spPr>
      </p:pic>
    </p:spTree>
    <p:extLst>
      <p:ext uri="{BB962C8B-B14F-4D97-AF65-F5344CB8AC3E}">
        <p14:creationId xmlns:p14="http://schemas.microsoft.com/office/powerpoint/2010/main" val="941034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3" cstate="print"/>
          <a:srcRect/>
          <a:stretch>
            <a:fillRect/>
          </a:stretch>
        </p:blipFill>
        <p:spPr bwMode="auto">
          <a:xfrm>
            <a:off x="0" y="0"/>
            <a:ext cx="8939361" cy="3816423"/>
          </a:xfrm>
          <a:prstGeom prst="rect">
            <a:avLst/>
          </a:prstGeom>
          <a:noFill/>
          <a:ln w="9525">
            <a:noFill/>
            <a:miter lim="800000"/>
            <a:headEnd/>
            <a:tailEnd/>
          </a:ln>
        </p:spPr>
      </p:pic>
      <p:pic>
        <p:nvPicPr>
          <p:cNvPr id="4" name="Picture 2"/>
          <p:cNvPicPr>
            <a:picLocks noChangeAspect="1" noChangeArrowheads="1"/>
          </p:cNvPicPr>
          <p:nvPr/>
        </p:nvPicPr>
        <p:blipFill>
          <a:blip r:embed="rId4" cstate="print"/>
          <a:srcRect/>
          <a:stretch>
            <a:fillRect/>
          </a:stretch>
        </p:blipFill>
        <p:spPr bwMode="auto">
          <a:xfrm>
            <a:off x="5220072" y="2893543"/>
            <a:ext cx="3923928" cy="3964457"/>
          </a:xfrm>
          <a:prstGeom prst="rect">
            <a:avLst/>
          </a:prstGeom>
          <a:noFill/>
          <a:ln w="9525">
            <a:noFill/>
            <a:miter lim="800000"/>
            <a:headEnd/>
            <a:tailEnd/>
          </a:ln>
        </p:spPr>
      </p:pic>
      <p:sp>
        <p:nvSpPr>
          <p:cNvPr id="6" name="TextBox 5"/>
          <p:cNvSpPr txBox="1"/>
          <p:nvPr/>
        </p:nvSpPr>
        <p:spPr>
          <a:xfrm>
            <a:off x="343665" y="5473005"/>
            <a:ext cx="4104456" cy="1384995"/>
          </a:xfrm>
          <a:prstGeom prst="rect">
            <a:avLst/>
          </a:prstGeom>
          <a:noFill/>
        </p:spPr>
        <p:txBody>
          <a:bodyPr wrap="square" rtlCol="0">
            <a:spAutoFit/>
          </a:bodyPr>
          <a:lstStyle/>
          <a:p>
            <a:r>
              <a:rPr lang="en-US" altLang="zh-CN" sz="2800" dirty="0"/>
              <a:t>Chromatin Conformation Capture (3C)-MTS technology</a:t>
            </a:r>
            <a:endParaRPr lang="zh-CN" altLang="en-US" sz="2800" dirty="0"/>
          </a:p>
        </p:txBody>
      </p:sp>
    </p:spTree>
    <p:extLst>
      <p:ext uri="{BB962C8B-B14F-4D97-AF65-F5344CB8AC3E}">
        <p14:creationId xmlns:p14="http://schemas.microsoft.com/office/powerpoint/2010/main" val="35324008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7A72C-85E0-4F4C-A34D-F11E4808886E}"/>
              </a:ext>
            </a:extLst>
          </p:cNvPr>
          <p:cNvSpPr>
            <a:spLocks noGrp="1"/>
          </p:cNvSpPr>
          <p:nvPr>
            <p:ph type="title"/>
          </p:nvPr>
        </p:nvSpPr>
        <p:spPr/>
        <p:txBody>
          <a:bodyPr>
            <a:normAutofit/>
          </a:bodyPr>
          <a:lstStyle/>
          <a:p>
            <a:r>
              <a:rPr lang="en-US" dirty="0"/>
              <a:t>III: Biomarker</a:t>
            </a:r>
          </a:p>
        </p:txBody>
      </p:sp>
      <p:sp>
        <p:nvSpPr>
          <p:cNvPr id="3" name="Content Placeholder 2">
            <a:extLst>
              <a:ext uri="{FF2B5EF4-FFF2-40B4-BE49-F238E27FC236}">
                <a16:creationId xmlns:a16="http://schemas.microsoft.com/office/drawing/2014/main" id="{2EC33C89-B2B4-4814-A9C7-46302FC58631}"/>
              </a:ext>
            </a:extLst>
          </p:cNvPr>
          <p:cNvSpPr>
            <a:spLocks noGrp="1"/>
          </p:cNvSpPr>
          <p:nvPr>
            <p:ph idx="1"/>
          </p:nvPr>
        </p:nvSpPr>
        <p:spPr/>
        <p:txBody>
          <a:bodyPr/>
          <a:lstStyle/>
          <a:p>
            <a:r>
              <a:rPr lang="en-US" dirty="0"/>
              <a:t>Autoantigen based on </a:t>
            </a:r>
            <a:r>
              <a:rPr lang="en-US" dirty="0" err="1"/>
              <a:t>PhIP</a:t>
            </a:r>
            <a:r>
              <a:rPr lang="en-US" dirty="0"/>
              <a:t>-seq data.</a:t>
            </a:r>
          </a:p>
          <a:p>
            <a:r>
              <a:rPr lang="en-US" dirty="0"/>
              <a:t>miRNA based on miRNA-seq data.</a:t>
            </a:r>
          </a:p>
        </p:txBody>
      </p:sp>
    </p:spTree>
    <p:extLst>
      <p:ext uri="{BB962C8B-B14F-4D97-AF65-F5344CB8AC3E}">
        <p14:creationId xmlns:p14="http://schemas.microsoft.com/office/powerpoint/2010/main" val="28126021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E:\publication\Fig6.tif"/>
          <p:cNvPicPr>
            <a:picLocks noChangeAspect="1" noChangeArrowheads="1"/>
          </p:cNvPicPr>
          <p:nvPr/>
        </p:nvPicPr>
        <p:blipFill>
          <a:blip r:embed="rId2" cstate="print"/>
          <a:srcRect/>
          <a:stretch>
            <a:fillRect/>
          </a:stretch>
        </p:blipFill>
        <p:spPr bwMode="auto">
          <a:xfrm>
            <a:off x="-15833" y="-27384"/>
            <a:ext cx="6388033" cy="6858000"/>
          </a:xfrm>
          <a:prstGeom prst="rect">
            <a:avLst/>
          </a:prstGeom>
          <a:noFill/>
        </p:spPr>
      </p:pic>
      <p:sp>
        <p:nvSpPr>
          <p:cNvPr id="3" name="TextBox 2"/>
          <p:cNvSpPr txBox="1"/>
          <p:nvPr/>
        </p:nvSpPr>
        <p:spPr>
          <a:xfrm>
            <a:off x="6623720" y="548680"/>
            <a:ext cx="2520280" cy="2554545"/>
          </a:xfrm>
          <a:prstGeom prst="rect">
            <a:avLst/>
          </a:prstGeom>
          <a:noFill/>
        </p:spPr>
        <p:txBody>
          <a:bodyPr wrap="square" rtlCol="0">
            <a:spAutoFit/>
          </a:bodyPr>
          <a:lstStyle/>
          <a:p>
            <a:r>
              <a:rPr lang="en-US" altLang="zh-CN" sz="3200" dirty="0"/>
              <a:t>Epitope level analysis of SS autoantigens using </a:t>
            </a:r>
            <a:r>
              <a:rPr lang="en-US" altLang="zh-CN" sz="3200" dirty="0" err="1"/>
              <a:t>PhIP</a:t>
            </a:r>
            <a:r>
              <a:rPr lang="en-US" altLang="zh-CN" sz="3200" dirty="0"/>
              <a:t>-Seq </a:t>
            </a:r>
            <a:endParaRPr lang="zh-CN" altLang="en-US" sz="3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rotWithShape="1">
          <a:blip r:embed="rId3" cstate="print"/>
          <a:srcRect l="5357" t="18006" r="6250"/>
          <a:stretch/>
        </p:blipFill>
        <p:spPr bwMode="auto">
          <a:xfrm>
            <a:off x="0" y="0"/>
            <a:ext cx="9144000" cy="4271937"/>
          </a:xfrm>
          <a:prstGeom prst="rect">
            <a:avLst/>
          </a:prstGeom>
          <a:noFill/>
          <a:ln w="9525">
            <a:noFill/>
            <a:miter lim="800000"/>
            <a:headEnd/>
            <a:tailEnd/>
          </a:ln>
        </p:spPr>
      </p:pic>
      <p:sp>
        <p:nvSpPr>
          <p:cNvPr id="5" name="TextBox 4"/>
          <p:cNvSpPr txBox="1"/>
          <p:nvPr/>
        </p:nvSpPr>
        <p:spPr>
          <a:xfrm>
            <a:off x="1007604" y="4611231"/>
            <a:ext cx="7128792" cy="2246769"/>
          </a:xfrm>
          <a:prstGeom prst="rect">
            <a:avLst/>
          </a:prstGeom>
          <a:noFill/>
        </p:spPr>
        <p:txBody>
          <a:bodyPr wrap="square" rtlCol="0">
            <a:spAutoFit/>
          </a:bodyPr>
          <a:lstStyle/>
          <a:p>
            <a:r>
              <a:rPr lang="en-US" altLang="zh-CN" sz="2800" dirty="0"/>
              <a:t>192 individuals: </a:t>
            </a:r>
          </a:p>
          <a:p>
            <a:r>
              <a:rPr lang="en-US" altLang="zh-CN" sz="2800" dirty="0"/>
              <a:t>	        25+25    normal individuals</a:t>
            </a:r>
          </a:p>
          <a:p>
            <a:r>
              <a:rPr lang="en-US" altLang="zh-CN" sz="2800" dirty="0"/>
              <a:t>	        25x4       colon cancer patients</a:t>
            </a:r>
          </a:p>
          <a:p>
            <a:r>
              <a:rPr lang="en-US" altLang="zh-CN" sz="2800" dirty="0"/>
              <a:t>	        23+13    prostate cancer patients</a:t>
            </a:r>
          </a:p>
          <a:p>
            <a:r>
              <a:rPr lang="en-US" altLang="zh-CN" sz="2800" dirty="0"/>
              <a:t>	        6             pancreatic cancer patients</a:t>
            </a:r>
            <a:endParaRPr lang="zh-CN" alt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143000"/>
          </a:xfrm>
        </p:spPr>
        <p:txBody>
          <a:bodyPr/>
          <a:lstStyle/>
          <a:p>
            <a:r>
              <a:rPr lang="en-US" altLang="zh-CN" dirty="0"/>
              <a:t>Prognostic biomarkers</a:t>
            </a:r>
            <a:endParaRPr lang="zh-CN" altLang="en-US" dirty="0"/>
          </a:p>
        </p:txBody>
      </p:sp>
      <p:pic>
        <p:nvPicPr>
          <p:cNvPr id="8194" name="Picture 2"/>
          <p:cNvPicPr>
            <a:picLocks noChangeAspect="1" noChangeArrowheads="1"/>
          </p:cNvPicPr>
          <p:nvPr/>
        </p:nvPicPr>
        <p:blipFill>
          <a:blip r:embed="rId3" cstate="print"/>
          <a:srcRect/>
          <a:stretch>
            <a:fillRect/>
          </a:stretch>
        </p:blipFill>
        <p:spPr bwMode="auto">
          <a:xfrm>
            <a:off x="323528" y="1005143"/>
            <a:ext cx="8496944" cy="4847714"/>
          </a:xfrm>
          <a:prstGeom prst="rect">
            <a:avLst/>
          </a:prstGeom>
          <a:noFill/>
          <a:ln w="9525">
            <a:noFill/>
            <a:miter lim="800000"/>
            <a:headEnd/>
            <a:tailEnd/>
          </a:ln>
        </p:spPr>
      </p:pic>
      <p:sp>
        <p:nvSpPr>
          <p:cNvPr id="4" name="TextBox 3"/>
          <p:cNvSpPr txBox="1"/>
          <p:nvPr/>
        </p:nvSpPr>
        <p:spPr>
          <a:xfrm>
            <a:off x="1007604" y="6334780"/>
            <a:ext cx="7128792" cy="523220"/>
          </a:xfrm>
          <a:prstGeom prst="rect">
            <a:avLst/>
          </a:prstGeom>
          <a:noFill/>
        </p:spPr>
        <p:txBody>
          <a:bodyPr wrap="square" rtlCol="0">
            <a:spAutoFit/>
          </a:bodyPr>
          <a:lstStyle/>
          <a:p>
            <a:r>
              <a:rPr lang="en-US" altLang="zh-CN" sz="2800" dirty="0"/>
              <a:t>Only CRPC patients (23 out of 192 )</a:t>
            </a:r>
            <a:endParaRPr lang="zh-CN" alt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844824"/>
            <a:ext cx="8229600" cy="1143000"/>
          </a:xfrm>
        </p:spPr>
        <p:txBody>
          <a:bodyPr/>
          <a:lstStyle/>
          <a:p>
            <a:r>
              <a:rPr lang="en-US" altLang="zh-CN" dirty="0"/>
              <a:t>Thank You</a:t>
            </a:r>
            <a:endParaRPr lang="zh-CN" altLang="en-US" dirty="0"/>
          </a:p>
        </p:txBody>
      </p:sp>
      <p:sp>
        <p:nvSpPr>
          <p:cNvPr id="3" name="内容占位符 2"/>
          <p:cNvSpPr>
            <a:spLocks noGrp="1"/>
          </p:cNvSpPr>
          <p:nvPr>
            <p:ph idx="1"/>
          </p:nvPr>
        </p:nvSpPr>
        <p:spPr>
          <a:xfrm>
            <a:off x="457200" y="4077072"/>
            <a:ext cx="8229600" cy="2049091"/>
          </a:xfrm>
        </p:spPr>
        <p:txBody>
          <a:bodyPr/>
          <a:lstStyle/>
          <a:p>
            <a:pPr>
              <a:buNone/>
            </a:pPr>
            <a:r>
              <a:rPr lang="en-US" altLang="zh-CN" dirty="0"/>
              <a:t>Questions?</a:t>
            </a:r>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9734</TotalTime>
  <Words>3029</Words>
  <Application>Microsoft Office PowerPoint</Application>
  <PresentationFormat>On-screen Show (4:3)</PresentationFormat>
  <Paragraphs>190</Paragraphs>
  <Slides>33</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主题</vt:lpstr>
      <vt:lpstr>Application for  Bioinformatics position</vt:lpstr>
      <vt:lpstr>About me</vt:lpstr>
      <vt:lpstr>Today’s Agenda</vt:lpstr>
      <vt:lpstr>Features of bioinformatics pipeline development</vt:lpstr>
      <vt:lpstr>Phases of pipeline development life cycle</vt:lpstr>
      <vt:lpstr>Phase 1: Requirements Analysis</vt:lpstr>
      <vt:lpstr>PowerPoint Presentation</vt:lpstr>
      <vt:lpstr>Create Development Plan</vt:lpstr>
      <vt:lpstr>Lightweight bioinformation system</vt:lpstr>
      <vt:lpstr>Cloud Computing Platform</vt:lpstr>
      <vt:lpstr>Docker Containers</vt:lpstr>
      <vt:lpstr>Phase 2: Pipeline design and modeling</vt:lpstr>
      <vt:lpstr>Biomedical Data Organizer (BDO)</vt:lpstr>
      <vt:lpstr>PowerPoint Presentation</vt:lpstr>
      <vt:lpstr>Design Database</vt:lpstr>
      <vt:lpstr>Describe processes</vt:lpstr>
      <vt:lpstr>Phase 3: Coding work</vt:lpstr>
      <vt:lpstr>Phase 4: Pipeline Testing</vt:lpstr>
      <vt:lpstr>Task management</vt:lpstr>
      <vt:lpstr>Work breakdown structure</vt:lpstr>
      <vt:lpstr>Use GANTT Charts to manage tasks</vt:lpstr>
      <vt:lpstr>Risk Management</vt:lpstr>
      <vt:lpstr>On Time / Delay Delivery</vt:lpstr>
      <vt:lpstr>Use data to make your comments convincing</vt:lpstr>
      <vt:lpstr>II: Development of bioinformatics pipelines</vt:lpstr>
      <vt:lpstr>PhIP Complex and PhIP-Seq Analyzer</vt:lpstr>
      <vt:lpstr>PowerPoint Presentation</vt:lpstr>
      <vt:lpstr>PowerPoint Presentation</vt:lpstr>
      <vt:lpstr>III: Biomarker</vt:lpstr>
      <vt:lpstr>PowerPoint Presentation</vt:lpstr>
      <vt:lpstr>PowerPoint Presentation</vt:lpstr>
      <vt:lpstr>Prognostic biomarkers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Summary of my study</dc:title>
  <dc:creator>Tiezheng</dc:creator>
  <cp:lastModifiedBy>Tiezheng Yuan</cp:lastModifiedBy>
  <cp:revision>157</cp:revision>
  <dcterms:created xsi:type="dcterms:W3CDTF">2015-02-19T16:11:17Z</dcterms:created>
  <dcterms:modified xsi:type="dcterms:W3CDTF">2020-03-13T00:14:08Z</dcterms:modified>
</cp:coreProperties>
</file>