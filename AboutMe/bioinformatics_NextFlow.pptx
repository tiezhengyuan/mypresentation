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80" r:id="rId3"/>
    <p:sldId id="257" r:id="rId4"/>
    <p:sldId id="258" r:id="rId5"/>
    <p:sldId id="259" r:id="rId6"/>
    <p:sldId id="264" r:id="rId7"/>
    <p:sldId id="265" r:id="rId8"/>
    <p:sldId id="260" r:id="rId9"/>
    <p:sldId id="261" r:id="rId10"/>
    <p:sldId id="262" r:id="rId11"/>
    <p:sldId id="279" r:id="rId12"/>
    <p:sldId id="299" r:id="rId13"/>
    <p:sldId id="300" r:id="rId14"/>
    <p:sldId id="263" r:id="rId15"/>
    <p:sldId id="266" r:id="rId16"/>
    <p:sldId id="267" r:id="rId17"/>
    <p:sldId id="270" r:id="rId18"/>
    <p:sldId id="275" r:id="rId19"/>
    <p:sldId id="276" r:id="rId20"/>
    <p:sldId id="277" r:id="rId21"/>
    <p:sldId id="278" r:id="rId22"/>
    <p:sldId id="281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020" autoAdjust="0"/>
  </p:normalViewPr>
  <p:slideViewPr>
    <p:cSldViewPr snapToGrid="0">
      <p:cViewPr varScale="1">
        <p:scale>
          <a:sx n="55" d="100"/>
          <a:sy n="55" d="100"/>
        </p:scale>
        <p:origin x="107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09ADC4-E4A6-4811-A0F4-346DD94F2BB1}" type="datetimeFigureOut">
              <a:rPr lang="en-US" smtClean="0"/>
              <a:t>3/24/2020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EE7DCE-AE26-4D28-AB86-4B7E2872E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524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presentation is a response to the requirements of the ability of </a:t>
            </a:r>
            <a:r>
              <a:rPr lang="en-US" dirty="0" err="1"/>
              <a:t>nextflow</a:t>
            </a:r>
            <a:r>
              <a:rPr lang="en-US" dirty="0"/>
              <a:t>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E7DCE-AE26-4D28-AB86-4B7E2872EC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541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workflow engine </a:t>
            </a:r>
            <a:r>
              <a:rPr lang="en-US" dirty="0" err="1"/>
              <a:t>NextFlow</a:t>
            </a:r>
            <a:r>
              <a:rPr lang="en-US" dirty="0"/>
              <a:t> rules some minimal syntax to allow you develop pipeline for bioinformatics data analysis.  </a:t>
            </a:r>
            <a:r>
              <a:rPr lang="en-US" dirty="0" err="1"/>
              <a:t>NextFlow</a:t>
            </a:r>
            <a:r>
              <a:rPr lang="en-US" dirty="0"/>
              <a:t> is like Linux/Unix-style bash script programming, but its programming pattern is routine for fast development and easy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E7DCE-AE26-4D28-AB86-4B7E2872ECA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877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E7DCE-AE26-4D28-AB86-4B7E2872ECA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3642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E7DCE-AE26-4D28-AB86-4B7E2872ECA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228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two basic topology: sequential and concurrent topology. Most advanced </a:t>
            </a:r>
            <a:r>
              <a:rPr lang="en-US" dirty="0" err="1"/>
              <a:t>nextflow</a:t>
            </a:r>
            <a:r>
              <a:rPr lang="en-US" dirty="0"/>
              <a:t> pipeline come from basic topology and their combinations.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E7DCE-AE26-4D28-AB86-4B7E2872ECA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507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 simple script. Only one process is defined. Data is array 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E7DCE-AE26-4D28-AB86-4B7E2872ECA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3642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processes are defined. Data is array like. In real world two or more processes could be defined.</a:t>
            </a:r>
          </a:p>
          <a:p>
            <a:r>
              <a:rPr lang="en-US" dirty="0"/>
              <a:t>In </a:t>
            </a:r>
            <a:r>
              <a:rPr lang="en-US" dirty="0" err="1"/>
              <a:t>nextflow</a:t>
            </a:r>
            <a:r>
              <a:rPr lang="en-US" dirty="0"/>
              <a:t>, input and output will define the order of different processes. The order of writing doesn’t determine the execution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E7DCE-AE26-4D28-AB86-4B7E2872ECA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3438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Here, two channels are defined, which could be different. And two processes are concurrent launched.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E7DCE-AE26-4D28-AB86-4B7E2872ECA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4167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is usually a critical path in the pipeline. And there are some optional branches. Some processes could be concurrent. Some should be sequential.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E7DCE-AE26-4D28-AB86-4B7E2872ECA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6586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Easily conduct concurrent analysis by splitting both data and analytic task.  I think this point is the biggest strength of </a:t>
            </a:r>
            <a:r>
              <a:rPr lang="en-US" b="1" dirty="0" err="1"/>
              <a:t>nextflow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E7DCE-AE26-4D28-AB86-4B7E2872ECA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8044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E7DCE-AE26-4D28-AB86-4B7E2872ECA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70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E7DCE-AE26-4D28-AB86-4B7E2872ECA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0183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E7DCE-AE26-4D28-AB86-4B7E2872ECA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2189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second example is more complicated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E7DCE-AE26-4D28-AB86-4B7E2872ECA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3147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that, I am going to show how to build </a:t>
            </a:r>
            <a:r>
              <a:rPr lang="en-US" dirty="0" err="1"/>
              <a:t>nextflow</a:t>
            </a:r>
            <a:r>
              <a:rPr lang="en-US" dirty="0"/>
              <a:t> alignment pipeline for short read alignment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E7DCE-AE26-4D28-AB86-4B7E2872ECA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6582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example is more complicated than blast pipeline.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5E0B6-8400-482A-9EAF-D1CCD70501C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529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69732-516D-4F18-A13F-07FB334360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989312-EF3D-4BAE-9C76-70491EB364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05158-3F9F-4D73-805D-5CE8E8705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5E90-CF06-4286-B0F8-237F07532EFB}" type="datetimeFigureOut">
              <a:rPr lang="en-US" smtClean="0"/>
              <a:t>3/24/2020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9CB42-7316-48D4-9D52-BADCDDB3A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0DB1D-582B-4787-91A4-AEE25D016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A02DE-8548-4A20-91B8-84A4ED7B5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322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4C06F-EB6D-4BD3-A85E-F7C8C11A4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D35C0-C558-4E69-83CB-9F43A2794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29334-D115-4F9B-8BB3-A0C1CF9CF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5E90-CF06-4286-B0F8-237F07532EFB}" type="datetimeFigureOut">
              <a:rPr lang="en-US" smtClean="0"/>
              <a:t>3/24/2020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8DC95-F064-444C-A2D6-B194865F4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BDA96-6829-4A7C-A7AF-2D4A088C0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A02DE-8548-4A20-91B8-84A4ED7B5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938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0F8E1-A920-42DA-8E8B-FD800CB42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70C53F-8B8E-445F-B345-B9A0F9C094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EED918-FE9F-49C4-9572-32CD7D274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5E90-CF06-4286-B0F8-237F07532EFB}" type="datetimeFigureOut">
              <a:rPr lang="en-US" smtClean="0"/>
              <a:t>3/24/2020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CCC4E-87E3-48E8-BF80-4AE1F136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6E0C9-7295-4444-9CCF-A54B22B9B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A02DE-8548-4A20-91B8-84A4ED7B5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47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B83F4-34AA-443C-A98A-0C9E23D59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9EF66-0F4B-4FE7-B995-AFBE9BCFFF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74F926-BCBE-4BEE-B547-8CD6849830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C76E49-C84F-49A4-94F9-C4C652907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5E90-CF06-4286-B0F8-237F07532EFB}" type="datetimeFigureOut">
              <a:rPr lang="en-US" smtClean="0"/>
              <a:t>3/24/2020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B08C90-F8E6-4123-9C3A-7A7B2AABC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1EABFE-CB50-4EB0-AB36-334F554D4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A02DE-8548-4A20-91B8-84A4ED7B5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957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E0D31-054D-4D8B-96E1-D32F987CD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DE748-666B-4CD6-80E6-5889C1B75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DE3D91-98D3-41CF-917A-21DFFA1BB3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1E3D5F-1DC8-4171-844E-82107B3F86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6387E5-DAC4-4F76-819F-4E4DFF7775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196CBD-8EBB-43E5-AE80-11A636338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5E90-CF06-4286-B0F8-237F07532EFB}" type="datetimeFigureOut">
              <a:rPr lang="en-US" smtClean="0"/>
              <a:t>3/24/2020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7FF32A-9876-460A-B018-C590234F6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4D0D55-3EF7-4CE4-AE27-86303F4CB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A02DE-8548-4A20-91B8-84A4ED7B5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528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5FD2A-2058-4981-B34F-FFE31D59A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22B790-A2AF-479F-A08B-0627F549E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5E90-CF06-4286-B0F8-237F07532EFB}" type="datetimeFigureOut">
              <a:rPr lang="en-US" smtClean="0"/>
              <a:t>3/24/2020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5BFA07-1792-4DE4-BDB8-AE98626E2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443B4D-87E3-434D-8FC8-329FC56CB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A02DE-8548-4A20-91B8-84A4ED7B5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296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111C10-8734-4FD8-8F23-520735C01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5E90-CF06-4286-B0F8-237F07532EFB}" type="datetimeFigureOut">
              <a:rPr lang="en-US" smtClean="0"/>
              <a:t>3/24/2020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888CA4-E212-4205-885E-BC587BD52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933C95-513F-4C5F-85D7-923C8A1AA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A02DE-8548-4A20-91B8-84A4ED7B5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077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E9142-CCCA-4987-B254-F2025B205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AB3D6-2C5C-4BF1-97D8-FDA2999B2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CD74DD-23CC-4FCC-91DE-482278C2E9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DDA428-C55C-45BC-B02B-67F2C4B6B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5E90-CF06-4286-B0F8-237F07532EFB}" type="datetimeFigureOut">
              <a:rPr lang="en-US" smtClean="0"/>
              <a:t>3/24/2020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D3D648-87FA-4037-A979-0A75B9F30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E1132-6439-41DA-91B9-AD0F2AB5D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A02DE-8548-4A20-91B8-84A4ED7B5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89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A43B5-A322-410C-BF4F-272133A6E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4F27BF-A191-43DC-AACB-023FB9DED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574805-C175-4CB5-B573-06652FF726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2E03AB-8822-4B53-95EB-41D5D4281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5E90-CF06-4286-B0F8-237F07532EFB}" type="datetimeFigureOut">
              <a:rPr lang="en-US" smtClean="0"/>
              <a:t>3/24/2020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4C88F9-06F8-45E1-9082-A05F46CF1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AF419F-783E-45F0-A867-02FB42C25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A02DE-8548-4A20-91B8-84A4ED7B5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304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F004B-C813-4FDB-B00B-80C185867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F8EBC3-116E-4A11-BA92-3AD6E0C406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2C26F-F033-4AEA-8870-76EF8736F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5E90-CF06-4286-B0F8-237F07532EFB}" type="datetimeFigureOut">
              <a:rPr lang="en-US" smtClean="0"/>
              <a:t>3/24/2020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7BE60-D24E-43BB-B0A2-952999A06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B316E-45BF-42AA-A9FF-A63B7B05F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A02DE-8548-4A20-91B8-84A4ED7B5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4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ED4FF-56C0-474F-B264-C87BB081E4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6AB49E-319A-4DE6-BAB0-9846EB2A2E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F0C74-02B2-4DF4-BFEB-6EDC9C8AE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5E90-CF06-4286-B0F8-237F07532EFB}" type="datetimeFigureOut">
              <a:rPr lang="en-US" smtClean="0"/>
              <a:t>3/24/2020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A7231-5819-47B6-9A1F-6E8BDA599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6D014-D4DE-4734-B71D-219CB4755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A02DE-8548-4A20-91B8-84A4ED7B5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315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424543-4F7C-4FD5-9AC3-F0A3AF700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56D664-05DC-493B-92F3-17BB51920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83347-E9BA-4A6B-9E9C-13418FB64A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A5E90-CF06-4286-B0F8-237F07532EFB}" type="datetimeFigureOut">
              <a:rPr lang="en-US" smtClean="0"/>
              <a:t>3/24/2020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E83FE-A2BC-4A07-8A9B-B1BBE4E03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2D312-A30E-4F6E-BCF8-3E73CAC510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4A02DE-8548-4A20-91B8-84A4ED7B5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061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1D988-E70C-4C38-9F7A-B62095D889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9919"/>
            <a:ext cx="9144000" cy="3784922"/>
          </a:xfrm>
        </p:spPr>
        <p:txBody>
          <a:bodyPr>
            <a:normAutofit/>
          </a:bodyPr>
          <a:lstStyle/>
          <a:p>
            <a:r>
              <a:rPr lang="en-US" dirty="0"/>
              <a:t>Practice in Design and Implementation of </a:t>
            </a:r>
            <a:r>
              <a:rPr lang="en-US" dirty="0" err="1"/>
              <a:t>Nextflow</a:t>
            </a:r>
            <a:r>
              <a:rPr lang="en-US" dirty="0"/>
              <a:t> Pipeline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260080-15D8-4AA2-B1ED-861F7E7EC4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13184"/>
            <a:ext cx="9144000" cy="1044615"/>
          </a:xfrm>
        </p:spPr>
        <p:txBody>
          <a:bodyPr/>
          <a:lstStyle/>
          <a:p>
            <a:r>
              <a:rPr lang="en-US" dirty="0"/>
              <a:t>Tiezheng Yuan</a:t>
            </a:r>
          </a:p>
          <a:p>
            <a:r>
              <a:rPr lang="en-US" dirty="0"/>
              <a:t>Oct 10</a:t>
            </a:r>
            <a:r>
              <a:rPr lang="en-US" baseline="30000" dirty="0"/>
              <a:t>th</a:t>
            </a:r>
            <a:r>
              <a:rPr lang="en-US" dirty="0"/>
              <a:t>, 2019- Mach 23, 2020</a:t>
            </a:r>
          </a:p>
        </p:txBody>
      </p:sp>
    </p:spTree>
    <p:extLst>
      <p:ext uri="{BB962C8B-B14F-4D97-AF65-F5344CB8AC3E}">
        <p14:creationId xmlns:p14="http://schemas.microsoft.com/office/powerpoint/2010/main" val="273765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0DABF-EAD6-40ED-A2C0-E4EFD9EBC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1E668-EE52-467A-B07D-613639758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NextFlow</a:t>
            </a:r>
            <a:r>
              <a:rPr lang="en-US" dirty="0"/>
              <a:t> pipeline Introduction</a:t>
            </a:r>
          </a:p>
          <a:p>
            <a:r>
              <a:rPr lang="en-US" dirty="0"/>
              <a:t>Pipeline topology</a:t>
            </a:r>
          </a:p>
          <a:p>
            <a:r>
              <a:rPr lang="en-US" dirty="0"/>
              <a:t>Steps of </a:t>
            </a:r>
            <a:r>
              <a:rPr lang="en-US" dirty="0" err="1"/>
              <a:t>NextFlow</a:t>
            </a:r>
            <a:r>
              <a:rPr lang="en-US" dirty="0"/>
              <a:t> development</a:t>
            </a:r>
          </a:p>
          <a:p>
            <a:r>
              <a:rPr lang="en-US" dirty="0"/>
              <a:t>Example practice using aligner pipeline:</a:t>
            </a:r>
            <a:br>
              <a:rPr lang="en-US" dirty="0"/>
            </a:br>
            <a:r>
              <a:rPr lang="en-US" dirty="0"/>
              <a:t>Blast, Bowtie2</a:t>
            </a:r>
            <a:r>
              <a:rPr lang="en-US"/>
              <a:t>, variants-calling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919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0B28B-0D97-4299-8ED9-59F6DEE5E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977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What is </a:t>
            </a:r>
            <a:r>
              <a:rPr lang="en-US" dirty="0" err="1"/>
              <a:t>NextFlow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3FC4D-D81F-4ABE-95F2-EB5068D2C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23745"/>
            <a:ext cx="10515600" cy="658479"/>
          </a:xfrm>
        </p:spPr>
        <p:txBody>
          <a:bodyPr/>
          <a:lstStyle/>
          <a:p>
            <a:r>
              <a:rPr lang="en-US" dirty="0"/>
              <a:t>https://www.nextflow.io/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95CFD1-ECCD-4A24-BC2E-C9004BC294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861" r="1963"/>
          <a:stretch/>
        </p:blipFill>
        <p:spPr>
          <a:xfrm>
            <a:off x="732942" y="1078832"/>
            <a:ext cx="10515600" cy="470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114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C3254-0EA9-43D2-B49D-6EF2742F3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1434" y="22854"/>
            <a:ext cx="10515600" cy="1325563"/>
          </a:xfrm>
        </p:spPr>
        <p:txBody>
          <a:bodyPr/>
          <a:lstStyle/>
          <a:p>
            <a:r>
              <a:rPr lang="en-US" dirty="0"/>
              <a:t>What do a </a:t>
            </a:r>
            <a:r>
              <a:rPr lang="en-US" dirty="0" err="1"/>
              <a:t>NextFlow</a:t>
            </a:r>
            <a:r>
              <a:rPr lang="en-US" dirty="0"/>
              <a:t> script look like?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29708-1250-458B-9098-842EA07A1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1434" y="6129305"/>
            <a:ext cx="9802366" cy="7271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Bash script						</a:t>
            </a:r>
            <a:r>
              <a:rPr lang="en-US" dirty="0" err="1"/>
              <a:t>NextFlow</a:t>
            </a:r>
            <a:r>
              <a:rPr lang="en-US" dirty="0"/>
              <a:t> script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DD81A9-2543-4217-95D4-A84F467473DB}"/>
              </a:ext>
            </a:extLst>
          </p:cNvPr>
          <p:cNvSpPr txBox="1"/>
          <p:nvPr/>
        </p:nvSpPr>
        <p:spPr>
          <a:xfrm>
            <a:off x="1103376" y="1348417"/>
            <a:ext cx="4279392" cy="267765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#!/</a:t>
            </a:r>
            <a:r>
              <a:rPr lang="en-US" sz="2400" dirty="0" err="1"/>
              <a:t>usr</a:t>
            </a:r>
            <a:r>
              <a:rPr lang="en-US" sz="2400" dirty="0"/>
              <a:t>/bin/bash</a:t>
            </a:r>
          </a:p>
          <a:p>
            <a:endParaRPr lang="en-US" sz="2400" dirty="0"/>
          </a:p>
          <a:p>
            <a:r>
              <a:rPr lang="en-US" sz="2400" dirty="0"/>
              <a:t>Hello = ( “A” “B” “C” “D” “E” “F” )</a:t>
            </a:r>
          </a:p>
          <a:p>
            <a:endParaRPr lang="en-US" sz="2400" dirty="0"/>
          </a:p>
          <a:p>
            <a:r>
              <a:rPr lang="en-US" sz="2400" dirty="0"/>
              <a:t>for x in “${Hello[@]}”</a:t>
            </a:r>
          </a:p>
          <a:p>
            <a:r>
              <a:rPr lang="en-US" sz="2400" dirty="0"/>
              <a:t>	echo “$x” is printed!</a:t>
            </a:r>
          </a:p>
          <a:p>
            <a:r>
              <a:rPr lang="en-US" sz="2400" dirty="0"/>
              <a:t>done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1FB91C-5985-4FA0-81F4-5E1185386A1D}"/>
              </a:ext>
            </a:extLst>
          </p:cNvPr>
          <p:cNvSpPr txBox="1"/>
          <p:nvPr/>
        </p:nvSpPr>
        <p:spPr>
          <a:xfrm>
            <a:off x="6272784" y="1351508"/>
            <a:ext cx="5794250" cy="45243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#!/</a:t>
            </a:r>
            <a:r>
              <a:rPr lang="en-US" sz="2400" dirty="0" err="1"/>
              <a:t>usr</a:t>
            </a:r>
            <a:r>
              <a:rPr lang="en-US" sz="2400" dirty="0"/>
              <a:t>/bin/env </a:t>
            </a:r>
            <a:r>
              <a:rPr lang="en-US" sz="2400" dirty="0" err="1"/>
              <a:t>nextflow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Hello = </a:t>
            </a:r>
            <a:r>
              <a:rPr lang="en-US" sz="2400" dirty="0" err="1"/>
              <a:t>channel.from</a:t>
            </a:r>
            <a:r>
              <a:rPr lang="en-US" sz="2400" dirty="0"/>
              <a:t> “A” “B” “C” “D” “E” “F” </a:t>
            </a:r>
          </a:p>
          <a:p>
            <a:endParaRPr lang="en-US" sz="2400" dirty="0"/>
          </a:p>
          <a:p>
            <a:r>
              <a:rPr lang="en-US" sz="2400" dirty="0"/>
              <a:t>Process </a:t>
            </a:r>
            <a:r>
              <a:rPr lang="en-US" sz="2400" dirty="0" err="1"/>
              <a:t>sayHello</a:t>
            </a:r>
            <a:r>
              <a:rPr lang="en-US" sz="2400" dirty="0"/>
              <a:t>{</a:t>
            </a:r>
          </a:p>
          <a:p>
            <a:r>
              <a:rPr lang="en-US" sz="2400" dirty="0"/>
              <a:t>	input:</a:t>
            </a:r>
          </a:p>
          <a:p>
            <a:r>
              <a:rPr lang="en-US" sz="2400" dirty="0"/>
              <a:t>	</a:t>
            </a:r>
            <a:r>
              <a:rPr lang="en-US" sz="2400" dirty="0" err="1"/>
              <a:t>val</a:t>
            </a:r>
            <a:r>
              <a:rPr lang="en-US" sz="2400" dirty="0"/>
              <a:t> x from Hello</a:t>
            </a:r>
          </a:p>
          <a:p>
            <a:endParaRPr lang="en-US" sz="2400" dirty="0"/>
          </a:p>
          <a:p>
            <a:r>
              <a:rPr lang="en-US" sz="2400" dirty="0"/>
              <a:t>	“””</a:t>
            </a:r>
          </a:p>
          <a:p>
            <a:r>
              <a:rPr lang="en-US" sz="2400" dirty="0"/>
              <a:t>	echo $x is printed!</a:t>
            </a:r>
          </a:p>
          <a:p>
            <a:r>
              <a:rPr lang="en-US" sz="2400" dirty="0"/>
              <a:t>	“””</a:t>
            </a:r>
          </a:p>
          <a:p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38051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C3254-0EA9-43D2-B49D-6EF2742F3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NextFlow</a:t>
            </a:r>
            <a:r>
              <a:rPr lang="en-US" dirty="0"/>
              <a:t>: Channel and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29708-1250-458B-9098-842EA07A1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2416" y="2011681"/>
            <a:ext cx="10515600" cy="4227073"/>
          </a:xfrm>
        </p:spPr>
        <p:txBody>
          <a:bodyPr>
            <a:normAutofit/>
          </a:bodyPr>
          <a:lstStyle/>
          <a:p>
            <a:r>
              <a:rPr lang="en-US" sz="3200" dirty="0"/>
              <a:t>Process is basic component of a </a:t>
            </a:r>
            <a:r>
              <a:rPr lang="en-US" sz="3200" dirty="0" err="1"/>
              <a:t>nextflow</a:t>
            </a:r>
            <a:r>
              <a:rPr lang="en-US" sz="3200" dirty="0"/>
              <a:t> pipeline.</a:t>
            </a:r>
          </a:p>
          <a:p>
            <a:r>
              <a:rPr lang="en-US" sz="3200" dirty="0"/>
              <a:t>Channel determines parallel status of a process</a:t>
            </a:r>
          </a:p>
          <a:p>
            <a:r>
              <a:rPr lang="en-US" sz="3200" dirty="0"/>
              <a:t>Input and output blocks determine the workflow of processes execution in a pipeline.</a:t>
            </a:r>
          </a:p>
          <a:p>
            <a:r>
              <a:rPr lang="en-US" sz="3200" b="1" dirty="0"/>
              <a:t>Process topology reveals relationship of processes and their execution order in analytic process.</a:t>
            </a:r>
          </a:p>
          <a:p>
            <a:r>
              <a:rPr lang="en-US" sz="3200" b="1" dirty="0"/>
              <a:t>Clarification of process topology will facilitate coding work of </a:t>
            </a:r>
            <a:r>
              <a:rPr lang="en-US" sz="3200" b="1" dirty="0" err="1"/>
              <a:t>nextflow</a:t>
            </a:r>
            <a:r>
              <a:rPr lang="en-US" sz="3200" b="1" dirty="0"/>
              <a:t> pipeline development.</a:t>
            </a:r>
          </a:p>
        </p:txBody>
      </p:sp>
    </p:spTree>
    <p:extLst>
      <p:ext uri="{BB962C8B-B14F-4D97-AF65-F5344CB8AC3E}">
        <p14:creationId xmlns:p14="http://schemas.microsoft.com/office/powerpoint/2010/main" val="2399307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A205B-7709-4448-ABA9-AD975680C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we talk about “topology”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FDDDA-AD47-40D6-AB02-C78AB28010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Split data -&gt; </a:t>
            </a:r>
            <a:br>
              <a:rPr lang="en-US" dirty="0"/>
            </a:br>
            <a:r>
              <a:rPr lang="en-US" dirty="0"/>
              <a:t>	handle data concurrently-&gt; </a:t>
            </a:r>
            <a:br>
              <a:rPr lang="en-US" dirty="0"/>
            </a:br>
            <a:r>
              <a:rPr lang="en-US" dirty="0"/>
              <a:t>		determined by “</a:t>
            </a:r>
            <a:r>
              <a:rPr lang="en-US" b="1" dirty="0"/>
              <a:t>Channel”</a:t>
            </a:r>
            <a:r>
              <a:rPr lang="en-US" dirty="0"/>
              <a:t> block</a:t>
            </a:r>
          </a:p>
          <a:p>
            <a:r>
              <a:rPr lang="en-US" dirty="0"/>
              <a:t>Decompose tasks -&gt;</a:t>
            </a:r>
            <a:br>
              <a:rPr lang="en-US" dirty="0"/>
            </a:br>
            <a:r>
              <a:rPr lang="en-US" dirty="0"/>
              <a:t>	Handle processes concurrently or sequentially -&gt;</a:t>
            </a:r>
            <a:br>
              <a:rPr lang="en-US" dirty="0"/>
            </a:br>
            <a:r>
              <a:rPr lang="en-US" dirty="0"/>
              <a:t>		determined by “</a:t>
            </a:r>
            <a:r>
              <a:rPr lang="en-US" b="1" dirty="0"/>
              <a:t>process”</a:t>
            </a:r>
            <a:r>
              <a:rPr lang="en-US" dirty="0"/>
              <a:t> block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157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C3254-0EA9-43D2-B49D-6EF2742F3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1434" y="22854"/>
            <a:ext cx="10515600" cy="1325563"/>
          </a:xfrm>
        </p:spPr>
        <p:txBody>
          <a:bodyPr/>
          <a:lstStyle/>
          <a:p>
            <a:r>
              <a:rPr lang="en-US" dirty="0"/>
              <a:t>A single-process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29708-1250-458B-9098-842EA07A1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1434" y="6129305"/>
            <a:ext cx="9802366" cy="727139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NextFlow</a:t>
            </a:r>
            <a:r>
              <a:rPr lang="en-US" dirty="0"/>
              <a:t> script				</a:t>
            </a:r>
            <a:r>
              <a:rPr lang="en-US" dirty="0" err="1"/>
              <a:t>NextFlow</a:t>
            </a:r>
            <a:r>
              <a:rPr lang="en-US" dirty="0"/>
              <a:t> topology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DD81A9-2543-4217-95D4-A84F467473DB}"/>
              </a:ext>
            </a:extLst>
          </p:cNvPr>
          <p:cNvSpPr txBox="1"/>
          <p:nvPr/>
        </p:nvSpPr>
        <p:spPr>
          <a:xfrm>
            <a:off x="952904" y="922706"/>
            <a:ext cx="4815841" cy="526297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#!/</a:t>
            </a:r>
            <a:r>
              <a:rPr lang="en-US" sz="2400" dirty="0" err="1"/>
              <a:t>usr</a:t>
            </a:r>
            <a:r>
              <a:rPr lang="en-US" sz="2400" dirty="0"/>
              <a:t>/bin/env </a:t>
            </a:r>
            <a:r>
              <a:rPr lang="en-US" sz="2400" dirty="0" err="1"/>
              <a:t>nextflow</a:t>
            </a:r>
            <a:endParaRPr lang="en-US" sz="2400" dirty="0"/>
          </a:p>
          <a:p>
            <a:r>
              <a:rPr lang="en-US" sz="2400" dirty="0"/>
              <a:t>echo true</a:t>
            </a:r>
          </a:p>
          <a:p>
            <a:endParaRPr lang="en-US" sz="2400" dirty="0"/>
          </a:p>
          <a:p>
            <a:r>
              <a:rPr lang="en-US" sz="2400" dirty="0"/>
              <a:t>x = </a:t>
            </a:r>
            <a:r>
              <a:rPr lang="en-US" sz="2400" dirty="0" err="1"/>
              <a:t>Channel.from</a:t>
            </a:r>
            <a:r>
              <a:rPr lang="en-US" sz="2400" dirty="0"/>
              <a:t>('a', 'b', 'c')</a:t>
            </a:r>
          </a:p>
          <a:p>
            <a:endParaRPr lang="en-US" sz="2400" dirty="0"/>
          </a:p>
          <a:p>
            <a:r>
              <a:rPr lang="en-US" sz="2400" dirty="0"/>
              <a:t>process print2{</a:t>
            </a:r>
          </a:p>
          <a:p>
            <a:r>
              <a:rPr lang="en-US" sz="2400" dirty="0"/>
              <a:t>    input: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val</a:t>
            </a:r>
            <a:r>
              <a:rPr lang="en-US" sz="2400" dirty="0"/>
              <a:t> e from x</a:t>
            </a:r>
          </a:p>
          <a:p>
            <a:endParaRPr lang="en-US" sz="2400" dirty="0"/>
          </a:p>
          <a:p>
            <a:r>
              <a:rPr lang="en-US" sz="2400" dirty="0"/>
              <a:t>    script:</a:t>
            </a:r>
          </a:p>
          <a:p>
            <a:r>
              <a:rPr lang="en-US" sz="2400" dirty="0"/>
              <a:t>    """</a:t>
            </a:r>
          </a:p>
          <a:p>
            <a:r>
              <a:rPr lang="en-US" sz="2400" dirty="0"/>
              <a:t>    echo 'process $e'</a:t>
            </a:r>
          </a:p>
          <a:p>
            <a:r>
              <a:rPr lang="en-US" sz="2400" dirty="0"/>
              <a:t>    """</a:t>
            </a:r>
          </a:p>
          <a:p>
            <a:r>
              <a:rPr lang="en-US" sz="2400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1FB91C-5985-4FA0-81F4-5E1185386A1D}"/>
              </a:ext>
            </a:extLst>
          </p:cNvPr>
          <p:cNvSpPr txBox="1"/>
          <p:nvPr/>
        </p:nvSpPr>
        <p:spPr>
          <a:xfrm>
            <a:off x="6272784" y="1351508"/>
            <a:ext cx="5794250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Data handling: concurrent</a:t>
            </a:r>
          </a:p>
          <a:p>
            <a:r>
              <a:rPr lang="en-US" sz="2400" dirty="0"/>
              <a:t>Process: N/A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5E939B4-EC6E-4FA7-8F38-7B41E99CED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2784" y="4075308"/>
            <a:ext cx="5509687" cy="1431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471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C3254-0EA9-43D2-B49D-6EF2742F3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1434" y="22854"/>
            <a:ext cx="10515600" cy="1325563"/>
          </a:xfrm>
        </p:spPr>
        <p:txBody>
          <a:bodyPr/>
          <a:lstStyle/>
          <a:p>
            <a:r>
              <a:rPr lang="en-US" dirty="0"/>
              <a:t>Sequential 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29708-1250-458B-9098-842EA07A1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1434" y="6129305"/>
            <a:ext cx="9802366" cy="727139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NextFlow</a:t>
            </a:r>
            <a:r>
              <a:rPr lang="en-US" dirty="0"/>
              <a:t> script				</a:t>
            </a:r>
            <a:r>
              <a:rPr lang="en-US" dirty="0" err="1"/>
              <a:t>NextFlow</a:t>
            </a:r>
            <a:r>
              <a:rPr lang="en-US" dirty="0"/>
              <a:t> topology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DD81A9-2543-4217-95D4-A84F467473DB}"/>
              </a:ext>
            </a:extLst>
          </p:cNvPr>
          <p:cNvSpPr txBox="1"/>
          <p:nvPr/>
        </p:nvSpPr>
        <p:spPr>
          <a:xfrm>
            <a:off x="952904" y="922706"/>
            <a:ext cx="4815841" cy="532453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s1_ch = </a:t>
            </a:r>
            <a:r>
              <a:rPr lang="en-US" sz="2000" dirty="0" err="1"/>
              <a:t>Channel.from</a:t>
            </a:r>
            <a:r>
              <a:rPr lang="en-US" sz="2000" dirty="0"/>
              <a:t>(1,2,3)</a:t>
            </a:r>
          </a:p>
          <a:p>
            <a:r>
              <a:rPr lang="en-US" sz="2000" dirty="0"/>
              <a:t>process step1{</a:t>
            </a:r>
          </a:p>
          <a:p>
            <a:r>
              <a:rPr lang="en-US" sz="2000" dirty="0"/>
              <a:t>    input: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val</a:t>
            </a:r>
            <a:r>
              <a:rPr lang="en-US" sz="2000" dirty="0"/>
              <a:t> x from s1_ch</a:t>
            </a:r>
          </a:p>
          <a:p>
            <a:r>
              <a:rPr lang="en-US" sz="2000" dirty="0"/>
              <a:t>    output: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val</a:t>
            </a:r>
            <a:r>
              <a:rPr lang="en-US" sz="2000" dirty="0"/>
              <a:t> x into s2_ch</a:t>
            </a:r>
          </a:p>
          <a:p>
            <a:r>
              <a:rPr lang="en-US" sz="2000" dirty="0"/>
              <a:t>    """</a:t>
            </a:r>
          </a:p>
          <a:p>
            <a:r>
              <a:rPr lang="en-US" sz="2000" dirty="0"/>
              <a:t>    echo "step1: $x"</a:t>
            </a:r>
          </a:p>
          <a:p>
            <a:r>
              <a:rPr lang="en-US" sz="2000" dirty="0"/>
              <a:t>    """</a:t>
            </a:r>
          </a:p>
          <a:p>
            <a:r>
              <a:rPr lang="en-US" sz="2000" dirty="0"/>
              <a:t>}</a:t>
            </a:r>
          </a:p>
          <a:p>
            <a:r>
              <a:rPr lang="en-US" sz="2000" dirty="0"/>
              <a:t>process step2{</a:t>
            </a:r>
          </a:p>
          <a:p>
            <a:r>
              <a:rPr lang="en-US" sz="2000" dirty="0"/>
              <a:t>    input: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val</a:t>
            </a:r>
            <a:r>
              <a:rPr lang="en-US" sz="2000" dirty="0"/>
              <a:t> x from s2_ch</a:t>
            </a:r>
          </a:p>
          <a:p>
            <a:r>
              <a:rPr lang="en-US" sz="2000" dirty="0"/>
              <a:t>    """</a:t>
            </a:r>
          </a:p>
          <a:p>
            <a:r>
              <a:rPr lang="en-US" sz="2000" dirty="0"/>
              <a:t>    echo "step2: $x"</a:t>
            </a:r>
          </a:p>
          <a:p>
            <a:r>
              <a:rPr lang="en-US" sz="2000" dirty="0"/>
              <a:t>    """</a:t>
            </a:r>
          </a:p>
          <a:p>
            <a:r>
              <a:rPr lang="en-US" sz="2000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1FB91C-5985-4FA0-81F4-5E1185386A1D}"/>
              </a:ext>
            </a:extLst>
          </p:cNvPr>
          <p:cNvSpPr txBox="1"/>
          <p:nvPr/>
        </p:nvSpPr>
        <p:spPr>
          <a:xfrm>
            <a:off x="6272784" y="1351508"/>
            <a:ext cx="5794250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Data handling: concurrent</a:t>
            </a:r>
          </a:p>
          <a:p>
            <a:r>
              <a:rPr lang="en-US" sz="2400" dirty="0"/>
              <a:t>Process: sequential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ABADAD-E500-497F-81F8-4668F3F54C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3859" y="3681777"/>
            <a:ext cx="6353175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214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C3254-0EA9-43D2-B49D-6EF2742F3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1434" y="22854"/>
            <a:ext cx="10515600" cy="1325563"/>
          </a:xfrm>
        </p:spPr>
        <p:txBody>
          <a:bodyPr/>
          <a:lstStyle/>
          <a:p>
            <a:r>
              <a:rPr lang="en-US" dirty="0"/>
              <a:t>Concurrent 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29708-1250-458B-9098-842EA07A1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1434" y="6129305"/>
            <a:ext cx="9802366" cy="727139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NextFlow</a:t>
            </a:r>
            <a:r>
              <a:rPr lang="en-US" dirty="0"/>
              <a:t> script				</a:t>
            </a:r>
            <a:r>
              <a:rPr lang="en-US" dirty="0" err="1"/>
              <a:t>NextFlow</a:t>
            </a:r>
            <a:r>
              <a:rPr lang="en-US" dirty="0"/>
              <a:t> topology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DD81A9-2543-4217-95D4-A84F467473DB}"/>
              </a:ext>
            </a:extLst>
          </p:cNvPr>
          <p:cNvSpPr txBox="1"/>
          <p:nvPr/>
        </p:nvSpPr>
        <p:spPr>
          <a:xfrm>
            <a:off x="243069" y="922706"/>
            <a:ext cx="5768745" cy="56323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ch1 = </a:t>
            </a:r>
            <a:r>
              <a:rPr lang="en-US" sz="2000" dirty="0" err="1"/>
              <a:t>Channel.create</a:t>
            </a:r>
            <a:r>
              <a:rPr lang="en-US" sz="2000" dirty="0"/>
              <a:t>()</a:t>
            </a:r>
          </a:p>
          <a:p>
            <a:r>
              <a:rPr lang="en-US" sz="2000" dirty="0"/>
              <a:t>ch2 = </a:t>
            </a:r>
            <a:r>
              <a:rPr lang="en-US" sz="2000" dirty="0" err="1"/>
              <a:t>Channel.create</a:t>
            </a:r>
            <a:r>
              <a:rPr lang="en-US" sz="2000" dirty="0"/>
              <a:t>()</a:t>
            </a:r>
          </a:p>
          <a:p>
            <a:r>
              <a:rPr lang="en-US" sz="2000" dirty="0" err="1"/>
              <a:t>Channel.from</a:t>
            </a:r>
            <a:r>
              <a:rPr lang="en-US" sz="2000" dirty="0"/>
              <a:t>(1,2,3).separate (ch1, ch2) { it -&gt; [it, it] }</a:t>
            </a:r>
          </a:p>
          <a:p>
            <a:endParaRPr lang="en-US" sz="2000" dirty="0"/>
          </a:p>
          <a:p>
            <a:r>
              <a:rPr lang="en-US" sz="2000" dirty="0"/>
              <a:t>process step1{</a:t>
            </a:r>
          </a:p>
          <a:p>
            <a:r>
              <a:rPr lang="en-US" sz="2000" dirty="0"/>
              <a:t>    input: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val</a:t>
            </a:r>
            <a:r>
              <a:rPr lang="en-US" sz="2000" dirty="0"/>
              <a:t> x from ch1</a:t>
            </a:r>
          </a:p>
          <a:p>
            <a:r>
              <a:rPr lang="en-US" sz="2000" dirty="0"/>
              <a:t>    """</a:t>
            </a:r>
          </a:p>
          <a:p>
            <a:r>
              <a:rPr lang="en-US" sz="2000" dirty="0"/>
              <a:t>    echo "step1: $x"</a:t>
            </a:r>
          </a:p>
          <a:p>
            <a:r>
              <a:rPr lang="en-US" sz="2000" dirty="0"/>
              <a:t>    """</a:t>
            </a:r>
          </a:p>
          <a:p>
            <a:r>
              <a:rPr lang="en-US" sz="2000" dirty="0"/>
              <a:t>}</a:t>
            </a:r>
          </a:p>
          <a:p>
            <a:r>
              <a:rPr lang="en-US" sz="2000" dirty="0"/>
              <a:t>process step2{</a:t>
            </a:r>
          </a:p>
          <a:p>
            <a:r>
              <a:rPr lang="en-US" sz="2000" dirty="0"/>
              <a:t>    input: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val</a:t>
            </a:r>
            <a:r>
              <a:rPr lang="en-US" sz="2000" dirty="0"/>
              <a:t> x from ch2</a:t>
            </a:r>
          </a:p>
          <a:p>
            <a:r>
              <a:rPr lang="en-US" sz="2000" dirty="0"/>
              <a:t>    """</a:t>
            </a:r>
          </a:p>
          <a:p>
            <a:r>
              <a:rPr lang="en-US" sz="2000" dirty="0"/>
              <a:t>    echo "step2: $x"</a:t>
            </a:r>
          </a:p>
          <a:p>
            <a:r>
              <a:rPr lang="en-US" sz="2000" dirty="0"/>
              <a:t>    """</a:t>
            </a:r>
          </a:p>
          <a:p>
            <a:r>
              <a:rPr lang="en-US" sz="2000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1FB91C-5985-4FA0-81F4-5E1185386A1D}"/>
              </a:ext>
            </a:extLst>
          </p:cNvPr>
          <p:cNvSpPr txBox="1"/>
          <p:nvPr/>
        </p:nvSpPr>
        <p:spPr>
          <a:xfrm>
            <a:off x="6272784" y="1351508"/>
            <a:ext cx="5794250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Data handling: parallel</a:t>
            </a:r>
          </a:p>
          <a:p>
            <a:r>
              <a:rPr lang="en-US" sz="2400" dirty="0"/>
              <a:t>Process: concurrent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291FDD-A5C9-4BDE-A3A3-1355EC957B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584" y="3429000"/>
            <a:ext cx="5200650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567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C3254-0EA9-43D2-B49D-6EF2742F3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1434" y="22854"/>
            <a:ext cx="10515600" cy="1325563"/>
          </a:xfrm>
        </p:spPr>
        <p:txBody>
          <a:bodyPr/>
          <a:lstStyle/>
          <a:p>
            <a:r>
              <a:rPr lang="en-US" dirty="0"/>
              <a:t>Hybrid Processes: mRNA-seq analytic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29708-1250-458B-9098-842EA07A1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1434" y="6129305"/>
            <a:ext cx="9802366" cy="727139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NextFlow</a:t>
            </a:r>
            <a:r>
              <a:rPr lang="en-US" dirty="0"/>
              <a:t> script				</a:t>
            </a:r>
            <a:r>
              <a:rPr lang="en-US" dirty="0" err="1"/>
              <a:t>NextFlow</a:t>
            </a:r>
            <a:r>
              <a:rPr lang="en-US" dirty="0"/>
              <a:t> topology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0A8A6A-CFB4-469F-9A97-431840BC06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712" y="1714500"/>
            <a:ext cx="1069657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034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10431-CF63-4EAF-BE76-353E3BC1B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 of developing </a:t>
            </a:r>
            <a:r>
              <a:rPr lang="en-US" dirty="0" err="1"/>
              <a:t>Nextflow</a:t>
            </a:r>
            <a:r>
              <a:rPr lang="en-US" dirty="0"/>
              <a:t>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73EAF-C764-448E-851F-2605E59AC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Agile method</a:t>
            </a:r>
          </a:p>
          <a:p>
            <a:r>
              <a:rPr lang="en-US" dirty="0"/>
              <a:t>Coding strategy: </a:t>
            </a:r>
            <a:br>
              <a:rPr lang="en-US" dirty="0"/>
            </a:br>
            <a:r>
              <a:rPr lang="en-US" dirty="0"/>
              <a:t>build pipeline from new: Blast pipeline v1</a:t>
            </a:r>
            <a:br>
              <a:rPr lang="en-US" dirty="0"/>
            </a:br>
            <a:r>
              <a:rPr lang="en-US" dirty="0"/>
              <a:t>Transplant similar topology: bowtie Pipeline from Blast pipeline</a:t>
            </a:r>
            <a:br>
              <a:rPr lang="en-US" dirty="0"/>
            </a:br>
            <a:r>
              <a:rPr lang="en-US" dirty="0"/>
              <a:t>Expand functionality: variants calling</a:t>
            </a:r>
          </a:p>
        </p:txBody>
      </p:sp>
    </p:spTree>
    <p:extLst>
      <p:ext uri="{BB962C8B-B14F-4D97-AF65-F5344CB8AC3E}">
        <p14:creationId xmlns:p14="http://schemas.microsoft.com/office/powerpoint/2010/main" val="3252103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3A667-87B7-43AD-BE31-CC515BD0F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</a:t>
            </a:r>
            <a:r>
              <a:rPr lang="en-US" dirty="0" err="1"/>
              <a:t>NextFlow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1E85C-7D69-4CB5-99D4-D77A5DE92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Easily conduct concurrent analysis by splitting both data and analytic task. </a:t>
            </a:r>
          </a:p>
          <a:p>
            <a:r>
              <a:rPr lang="en-US" dirty="0"/>
              <a:t>Coding blocks are templates. All coding blocks are developed based on process, channel and operators.</a:t>
            </a:r>
          </a:p>
          <a:p>
            <a:r>
              <a:rPr lang="en-US" dirty="0"/>
              <a:t>Pipeline is cross-platform: high-performance computer, cloud computing</a:t>
            </a:r>
          </a:p>
          <a:p>
            <a:r>
              <a:rPr lang="en-US" dirty="0"/>
              <a:t>Coding is readable for non-professional scientists.</a:t>
            </a:r>
          </a:p>
          <a:p>
            <a:r>
              <a:rPr lang="en-US" dirty="0"/>
              <a:t>The code allows developers to embed shell commands, binary tools, </a:t>
            </a:r>
            <a:r>
              <a:rPr lang="en-US" dirty="0" err="1"/>
              <a:t>perl</a:t>
            </a:r>
            <a:r>
              <a:rPr lang="en-US" dirty="0"/>
              <a:t> or python scripts, etc.</a:t>
            </a:r>
          </a:p>
        </p:txBody>
      </p:sp>
    </p:spTree>
    <p:extLst>
      <p:ext uri="{BB962C8B-B14F-4D97-AF65-F5344CB8AC3E}">
        <p14:creationId xmlns:p14="http://schemas.microsoft.com/office/powerpoint/2010/main" val="3845916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9E6F6-0996-4703-9629-28848BF37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Weakness of </a:t>
            </a:r>
            <a:r>
              <a:rPr lang="en-US" dirty="0" err="1"/>
              <a:t>NextFlow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CFD8D-2601-47DF-BE92-C1282865C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not programming language. Don’t overload it.</a:t>
            </a:r>
            <a:br>
              <a:rPr lang="en-US" dirty="0"/>
            </a:br>
            <a:r>
              <a:rPr lang="en-US" dirty="0"/>
              <a:t>Example, process and branch prohibit branch</a:t>
            </a:r>
          </a:p>
          <a:p>
            <a:r>
              <a:rPr lang="en-US" dirty="0"/>
              <a:t>There is certain learning curve though it is pledged that </a:t>
            </a:r>
            <a:r>
              <a:rPr lang="en-US" dirty="0" err="1"/>
              <a:t>nextflow</a:t>
            </a:r>
            <a:r>
              <a:rPr lang="en-US" dirty="0"/>
              <a:t> is easy to learn. </a:t>
            </a:r>
            <a:br>
              <a:rPr lang="en-US" dirty="0"/>
            </a:br>
            <a:r>
              <a:rPr lang="en-US" dirty="0"/>
              <a:t>Example: the operator map()</a:t>
            </a:r>
          </a:p>
          <a:p>
            <a:r>
              <a:rPr lang="en-US" dirty="0"/>
              <a:t>The official technical document is not friendly to beginners. </a:t>
            </a:r>
            <a:br>
              <a:rPr lang="en-US" dirty="0"/>
            </a:br>
            <a:r>
              <a:rPr lang="en-US" dirty="0"/>
              <a:t>The 2018 version is 200 pages</a:t>
            </a:r>
            <a:br>
              <a:rPr lang="en-US" dirty="0"/>
            </a:br>
            <a:r>
              <a:rPr lang="en-US" dirty="0"/>
              <a:t>example: The function </a:t>
            </a:r>
            <a:r>
              <a:rPr lang="en-US" dirty="0" err="1"/>
              <a:t>splitFastqPairs</a:t>
            </a:r>
            <a:r>
              <a:rPr lang="en-US" dirty="0"/>
              <a:t>()</a:t>
            </a:r>
          </a:p>
          <a:p>
            <a:r>
              <a:rPr lang="en-US" dirty="0"/>
              <a:t>Not always being easy to locate bugs when testing</a:t>
            </a:r>
            <a:br>
              <a:rPr lang="en-US" dirty="0"/>
            </a:br>
            <a:r>
              <a:rPr lang="en-US" dirty="0"/>
              <a:t>Example: input and output in process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810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F13A2-60F4-4986-9A8D-FFB13EAD3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of developing </a:t>
            </a:r>
            <a:r>
              <a:rPr lang="en-US" dirty="0" err="1"/>
              <a:t>NextFlow</a:t>
            </a:r>
            <a:r>
              <a:rPr lang="en-US" dirty="0"/>
              <a:t>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067DE-E3C9-4948-9821-BE7E8E9CA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95893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Requirement analysis and understand biological background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Pipeline topology analysis and design:</a:t>
            </a:r>
            <a:br>
              <a:rPr lang="en-US" b="1" dirty="0"/>
            </a:br>
            <a:r>
              <a:rPr lang="en-US" dirty="0"/>
              <a:t>Define tasks and decompose tasks if necessary</a:t>
            </a:r>
            <a:br>
              <a:rPr lang="en-US" dirty="0"/>
            </a:br>
            <a:r>
              <a:rPr lang="en-US" dirty="0"/>
              <a:t>Identify critical path and determine branches.</a:t>
            </a:r>
            <a:br>
              <a:rPr lang="en-US" dirty="0"/>
            </a:br>
            <a:r>
              <a:rPr lang="en-US" dirty="0"/>
              <a:t>Identify input and output.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Development preparation: </a:t>
            </a:r>
            <a:br>
              <a:rPr lang="en-US" dirty="0"/>
            </a:br>
            <a:r>
              <a:rPr lang="en-US" dirty="0"/>
              <a:t>prepare example data (query </a:t>
            </a:r>
            <a:r>
              <a:rPr lang="en-US" dirty="0" err="1"/>
              <a:t>fasta</a:t>
            </a:r>
            <a:r>
              <a:rPr lang="en-US" dirty="0"/>
              <a:t>) and references (*</a:t>
            </a:r>
            <a:r>
              <a:rPr lang="en-US" dirty="0" err="1"/>
              <a:t>fasta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Install and test bioinformatics tools (blast)</a:t>
            </a:r>
            <a:br>
              <a:rPr lang="en-US" dirty="0"/>
            </a:br>
            <a:r>
              <a:rPr lang="en-US" dirty="0"/>
              <a:t>Execution of the whole analytic process at command lines.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Coding work -&gt; unit testing -&gt; integral testing -&gt; documentation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System testing and deployment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5069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BCD4D-1C4E-4979-8B11-A4FCCBC3C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C9F0D-77F7-4A43-8CA4-33F1291DD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r>
              <a:rPr lang="en-US" b="1" dirty="0"/>
              <a:t>Needs or expectations from biologists</a:t>
            </a:r>
            <a:r>
              <a:rPr lang="en-US" dirty="0"/>
              <a:t>: I would like to conduct sequence alignment using Blast. Or Can you help to </a:t>
            </a:r>
            <a:r>
              <a:rPr lang="en-US" dirty="0" err="1"/>
              <a:t>to</a:t>
            </a:r>
            <a:r>
              <a:rPr lang="en-US" dirty="0"/>
              <a:t> detect similarity of some certain sequences against a given references.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109BCA8-493E-4BB0-8DFB-D73BCFFFD3D2}"/>
              </a:ext>
            </a:extLst>
          </p:cNvPr>
          <p:cNvSpPr txBox="1">
            <a:spLocks/>
          </p:cNvSpPr>
          <p:nvPr/>
        </p:nvSpPr>
        <p:spPr>
          <a:xfrm>
            <a:off x="838200" y="3286125"/>
            <a:ext cx="10515600" cy="29570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High-level functional requirements specifications:</a:t>
            </a:r>
            <a:br>
              <a:rPr lang="en-US" b="1" dirty="0"/>
            </a:br>
            <a:r>
              <a:rPr lang="en-US" dirty="0"/>
              <a:t>The pipeline shall do nucleotide sequence alignment using </a:t>
            </a:r>
            <a:r>
              <a:rPr lang="en-US" dirty="0" err="1"/>
              <a:t>blastn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 pipeline shall do amino acid sequence alignment using </a:t>
            </a:r>
            <a:r>
              <a:rPr lang="en-US" dirty="0" err="1"/>
              <a:t>blastp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 pipeline shall automatically recognize nucleotide or protein sequences based on </a:t>
            </a:r>
            <a:r>
              <a:rPr lang="en-US" dirty="0" err="1"/>
              <a:t>nextflow.config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 pipeline shall automatically build reference database based on reference in </a:t>
            </a:r>
            <a:r>
              <a:rPr lang="en-US" dirty="0" err="1"/>
              <a:t>fasta</a:t>
            </a:r>
            <a:r>
              <a:rPr lang="en-US" dirty="0"/>
              <a:t> format.</a:t>
            </a:r>
          </a:p>
        </p:txBody>
      </p:sp>
    </p:spTree>
    <p:extLst>
      <p:ext uri="{BB962C8B-B14F-4D97-AF65-F5344CB8AC3E}">
        <p14:creationId xmlns:p14="http://schemas.microsoft.com/office/powerpoint/2010/main" val="11995109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E285B-7D64-4A09-9386-B6FC63105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Create a repository as a starting 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ECB07-F300-4753-A772-99F17DD12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71393"/>
            <a:ext cx="10515600" cy="1205570"/>
          </a:xfrm>
        </p:spPr>
        <p:txBody>
          <a:bodyPr/>
          <a:lstStyle/>
          <a:p>
            <a:r>
              <a:rPr lang="en-US" dirty="0"/>
              <a:t>That could be used as coding template, which standardize development process.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95C9C9-18DF-464C-8A7A-9A7F51BE8D0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333" r="58621" b="4666"/>
          <a:stretch/>
        </p:blipFill>
        <p:spPr>
          <a:xfrm>
            <a:off x="2575034" y="1564780"/>
            <a:ext cx="5581023" cy="14664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343D45-FC7F-4BC1-80DB-8F4919C7FA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932" r="51035" b="3251"/>
          <a:stretch/>
        </p:blipFill>
        <p:spPr>
          <a:xfrm>
            <a:off x="1707975" y="3338512"/>
            <a:ext cx="7036633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475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60F69-B3DA-42E9-A804-93162B7E3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White-box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F20DC-0CD5-4346-AAB7-036C618C5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7779"/>
            <a:ext cx="10515600" cy="4369184"/>
          </a:xfrm>
        </p:spPr>
        <p:txBody>
          <a:bodyPr/>
          <a:lstStyle/>
          <a:p>
            <a:r>
              <a:rPr lang="en-US" dirty="0"/>
              <a:t>Unit testing: </a:t>
            </a:r>
            <a:br>
              <a:rPr lang="en-US" dirty="0"/>
            </a:br>
            <a:r>
              <a:rPr lang="en-US" dirty="0"/>
              <a:t>Isolate functions and codes at unit testing</a:t>
            </a:r>
            <a:br>
              <a:rPr lang="en-US" dirty="0"/>
            </a:br>
            <a:r>
              <a:rPr lang="en-US" dirty="0"/>
              <a:t>test all small blocks: channels, and processes</a:t>
            </a:r>
          </a:p>
          <a:p>
            <a:r>
              <a:rPr lang="en-US" dirty="0"/>
              <a:t>Integral testing: </a:t>
            </a:r>
            <a:br>
              <a:rPr lang="en-US" dirty="0"/>
            </a:br>
            <a:r>
              <a:rPr lang="en-US" dirty="0"/>
              <a:t>Combine channels or process once unit testing is done.</a:t>
            </a:r>
          </a:p>
          <a:p>
            <a:r>
              <a:rPr lang="en-US" dirty="0"/>
              <a:t>System testing:</a:t>
            </a:r>
            <a:br>
              <a:rPr lang="en-US" dirty="0"/>
            </a:br>
            <a:r>
              <a:rPr lang="en-US" dirty="0"/>
              <a:t>test pipeline use real data at real running environments</a:t>
            </a:r>
          </a:p>
        </p:txBody>
      </p:sp>
    </p:spTree>
    <p:extLst>
      <p:ext uri="{BB962C8B-B14F-4D97-AF65-F5344CB8AC3E}">
        <p14:creationId xmlns:p14="http://schemas.microsoft.com/office/powerpoint/2010/main" val="3026588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C3254-0EA9-43D2-B49D-6EF2742F3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1434" y="22854"/>
            <a:ext cx="10515600" cy="1325563"/>
          </a:xfrm>
        </p:spPr>
        <p:txBody>
          <a:bodyPr/>
          <a:lstStyle/>
          <a:p>
            <a:r>
              <a:rPr lang="en-US" dirty="0"/>
              <a:t>Unit testing: test make db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29708-1250-458B-9098-842EA07A1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1434" y="6129305"/>
            <a:ext cx="9802366" cy="727139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NextFlow</a:t>
            </a:r>
            <a:r>
              <a:rPr lang="en-US" dirty="0"/>
              <a:t> script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DD81A9-2543-4217-95D4-A84F467473DB}"/>
              </a:ext>
            </a:extLst>
          </p:cNvPr>
          <p:cNvSpPr txBox="1"/>
          <p:nvPr/>
        </p:nvSpPr>
        <p:spPr>
          <a:xfrm>
            <a:off x="525306" y="1348417"/>
            <a:ext cx="5570694" cy="31393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params.reference</a:t>
            </a:r>
            <a:r>
              <a:rPr lang="en-US" altLang="zh-CN" dirty="0"/>
              <a:t> = './reference/</a:t>
            </a:r>
            <a:r>
              <a:rPr lang="en-US" altLang="zh-CN" dirty="0" err="1"/>
              <a:t>nucleotide_reference.fa</a:t>
            </a:r>
            <a:r>
              <a:rPr lang="en-US" altLang="zh-CN" dirty="0"/>
              <a:t>'</a:t>
            </a:r>
            <a:endParaRPr lang="zh-CN" altLang="en-US" dirty="0"/>
          </a:p>
          <a:p>
            <a:r>
              <a:rPr lang="en-US" altLang="zh-CN" dirty="0" err="1"/>
              <a:t>params.dbtype</a:t>
            </a:r>
            <a:r>
              <a:rPr lang="en-US" altLang="zh-CN" dirty="0"/>
              <a:t> = '</a:t>
            </a:r>
            <a:r>
              <a:rPr lang="en-US" altLang="zh-CN" dirty="0" err="1"/>
              <a:t>nucl</a:t>
            </a:r>
            <a:r>
              <a:rPr lang="en-US" altLang="zh-CN" dirty="0"/>
              <a:t>'</a:t>
            </a:r>
            <a:endParaRPr lang="zh-CN" altLang="en-US" dirty="0"/>
          </a:p>
          <a:p>
            <a:r>
              <a:rPr lang="it-IT" altLang="zh-CN" dirty="0"/>
              <a:t>ref_fa = file(params.reference)</a:t>
            </a:r>
            <a:endParaRPr lang="zh-CN" altLang="en-US" dirty="0"/>
          </a:p>
          <a:p>
            <a:r>
              <a:rPr lang="en-US" altLang="zh-CN" dirty="0"/>
              <a:t>db = file("${</a:t>
            </a:r>
            <a:r>
              <a:rPr lang="en-US" altLang="zh-CN" dirty="0" err="1"/>
              <a:t>ref_fa.parent</a:t>
            </a:r>
            <a:r>
              <a:rPr lang="en-US" altLang="zh-CN" dirty="0"/>
              <a:t>}/${</a:t>
            </a:r>
            <a:r>
              <a:rPr lang="en-US" altLang="zh-CN" dirty="0" err="1"/>
              <a:t>ref_fa.baseName</a:t>
            </a:r>
            <a:r>
              <a:rPr lang="en-US" altLang="zh-CN" dirty="0"/>
              <a:t>}")</a:t>
            </a:r>
            <a:endParaRPr lang="zh-CN" altLang="en-US" dirty="0"/>
          </a:p>
          <a:p>
            <a:r>
              <a:rPr lang="en-US" altLang="zh-CN" dirty="0"/>
              <a:t>if (</a:t>
            </a:r>
            <a:r>
              <a:rPr lang="en-US" altLang="zh-CN" dirty="0" err="1"/>
              <a:t>params.dbtype</a:t>
            </a:r>
            <a:r>
              <a:rPr lang="en-US" altLang="zh-CN" dirty="0"/>
              <a:t> == '</a:t>
            </a:r>
            <a:r>
              <a:rPr lang="en-US" altLang="zh-CN" dirty="0" err="1"/>
              <a:t>nucl</a:t>
            </a:r>
            <a:r>
              <a:rPr lang="en-US" altLang="zh-CN" dirty="0"/>
              <a:t>'){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 err="1"/>
              <a:t>db_index</a:t>
            </a:r>
            <a:r>
              <a:rPr lang="en-US" altLang="zh-CN" dirty="0"/>
              <a:t> = file("${</a:t>
            </a:r>
            <a:r>
              <a:rPr lang="en-US" altLang="zh-CN" dirty="0" err="1"/>
              <a:t>ref_fa.parent</a:t>
            </a:r>
            <a:r>
              <a:rPr lang="en-US" altLang="zh-CN" dirty="0"/>
              <a:t>}/${</a:t>
            </a:r>
            <a:r>
              <a:rPr lang="en-US" altLang="zh-CN" dirty="0" err="1"/>
              <a:t>ref_fa.baseName</a:t>
            </a:r>
            <a:r>
              <a:rPr lang="en-US" altLang="zh-CN" dirty="0"/>
              <a:t>}.</a:t>
            </a:r>
            <a:r>
              <a:rPr lang="en-US" altLang="zh-CN" dirty="0" err="1"/>
              <a:t>nsq</a:t>
            </a:r>
            <a:r>
              <a:rPr lang="en-US" altLang="zh-CN" dirty="0"/>
              <a:t>")</a:t>
            </a:r>
            <a:endParaRPr lang="zh-CN" altLang="en-US" dirty="0"/>
          </a:p>
          <a:p>
            <a:r>
              <a:rPr lang="en-US" altLang="zh-CN" dirty="0"/>
              <a:t>}else{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 err="1"/>
              <a:t>db_index</a:t>
            </a:r>
            <a:r>
              <a:rPr lang="en-US" altLang="zh-CN" dirty="0"/>
              <a:t> = file("${</a:t>
            </a:r>
            <a:r>
              <a:rPr lang="en-US" altLang="zh-CN" dirty="0" err="1"/>
              <a:t>ref_fa.parent</a:t>
            </a:r>
            <a:r>
              <a:rPr lang="en-US" altLang="zh-CN" dirty="0"/>
              <a:t>}/${</a:t>
            </a:r>
            <a:r>
              <a:rPr lang="en-US" altLang="zh-CN" dirty="0" err="1"/>
              <a:t>ref_fa.baseName</a:t>
            </a:r>
            <a:r>
              <a:rPr lang="en-US" altLang="zh-CN" dirty="0"/>
              <a:t>}.</a:t>
            </a:r>
            <a:r>
              <a:rPr lang="en-US" altLang="zh-CN" dirty="0" err="1"/>
              <a:t>psq</a:t>
            </a:r>
            <a:r>
              <a:rPr lang="en-US" altLang="zh-CN" dirty="0"/>
              <a:t>")</a:t>
            </a:r>
            <a:endParaRPr lang="zh-CN" altLang="en-US" dirty="0"/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751DCA-AF1E-4CD5-8F84-7ADBD73D5F0A}"/>
              </a:ext>
            </a:extLst>
          </p:cNvPr>
          <p:cNvSpPr txBox="1"/>
          <p:nvPr/>
        </p:nvSpPr>
        <p:spPr>
          <a:xfrm>
            <a:off x="6470487" y="953253"/>
            <a:ext cx="5395692" cy="480131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//</a:t>
            </a:r>
            <a:endParaRPr lang="zh-CN" altLang="en-US" dirty="0"/>
          </a:p>
          <a:p>
            <a:r>
              <a:rPr lang="en-US" altLang="zh-CN" dirty="0"/>
              <a:t>process </a:t>
            </a:r>
            <a:r>
              <a:rPr lang="en-US" altLang="zh-CN" dirty="0" err="1"/>
              <a:t>makedb</a:t>
            </a:r>
            <a:r>
              <a:rPr lang="en-US" altLang="zh-CN" dirty="0"/>
              <a:t>{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script: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if ( </a:t>
            </a:r>
            <a:r>
              <a:rPr lang="en-US" altLang="zh-CN" dirty="0" err="1"/>
              <a:t>db_index.isFile</a:t>
            </a:r>
            <a:r>
              <a:rPr lang="en-US" altLang="zh-CN" dirty="0"/>
              <a:t>() ){</a:t>
            </a:r>
            <a:endParaRPr lang="zh-CN" altLang="en-US" dirty="0"/>
          </a:p>
          <a:p>
            <a:r>
              <a:rPr lang="zh-CN" altLang="en-US" dirty="0"/>
              <a:t>        </a:t>
            </a:r>
            <a:r>
              <a:rPr lang="en-US" altLang="zh-CN" dirty="0"/>
              <a:t>"""</a:t>
            </a:r>
            <a:endParaRPr lang="zh-CN" altLang="en-US" dirty="0"/>
          </a:p>
          <a:p>
            <a:r>
              <a:rPr lang="zh-CN" altLang="en-US" dirty="0"/>
              <a:t>        </a:t>
            </a:r>
            <a:r>
              <a:rPr lang="en-US" altLang="zh-CN" dirty="0"/>
              <a:t>echo "The index files of $</a:t>
            </a:r>
            <a:r>
              <a:rPr lang="en-US" altLang="zh-CN" dirty="0" err="1"/>
              <a:t>ref_fa</a:t>
            </a:r>
            <a:r>
              <a:rPr lang="en-US" altLang="zh-CN" dirty="0"/>
              <a:t> exist. skip </a:t>
            </a:r>
            <a:r>
              <a:rPr lang="en-US" altLang="zh-CN" dirty="0" err="1"/>
              <a:t>makeblastdb</a:t>
            </a:r>
            <a:r>
              <a:rPr lang="en-US" altLang="zh-CN" dirty="0"/>
              <a:t>"</a:t>
            </a:r>
            <a:endParaRPr lang="zh-CN" altLang="en-US" dirty="0"/>
          </a:p>
          <a:p>
            <a:r>
              <a:rPr lang="zh-CN" altLang="en-US" dirty="0"/>
              <a:t>        </a:t>
            </a:r>
            <a:r>
              <a:rPr lang="en-US" altLang="zh-CN" dirty="0"/>
              <a:t>"""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} 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else{</a:t>
            </a:r>
            <a:endParaRPr lang="zh-CN" altLang="en-US" dirty="0"/>
          </a:p>
          <a:p>
            <a:r>
              <a:rPr lang="zh-CN" altLang="en-US" dirty="0"/>
              <a:t>        </a:t>
            </a:r>
            <a:r>
              <a:rPr lang="en-US" altLang="zh-CN" dirty="0"/>
              <a:t>"""</a:t>
            </a:r>
            <a:endParaRPr lang="zh-CN" altLang="en-US" dirty="0"/>
          </a:p>
          <a:p>
            <a:r>
              <a:rPr lang="zh-CN" altLang="en-US" dirty="0"/>
              <a:t>        </a:t>
            </a:r>
            <a:r>
              <a:rPr lang="en-US" altLang="zh-CN" dirty="0"/>
              <a:t>echo "Build blast index file based on $</a:t>
            </a:r>
            <a:r>
              <a:rPr lang="en-US" altLang="zh-CN" dirty="0" err="1"/>
              <a:t>ref_fa</a:t>
            </a:r>
            <a:r>
              <a:rPr lang="en-US" altLang="zh-CN" dirty="0"/>
              <a:t>."</a:t>
            </a:r>
            <a:endParaRPr lang="zh-CN" altLang="en-US" dirty="0"/>
          </a:p>
          <a:p>
            <a:r>
              <a:rPr lang="zh-CN" altLang="en-US" dirty="0"/>
              <a:t>        </a:t>
            </a:r>
            <a:r>
              <a:rPr lang="en-US" altLang="zh-CN" dirty="0" err="1"/>
              <a:t>makeblastdb</a:t>
            </a:r>
            <a:r>
              <a:rPr lang="en-US" altLang="zh-CN" dirty="0"/>
              <a:t> -in $</a:t>
            </a:r>
            <a:r>
              <a:rPr lang="en-US" altLang="zh-CN" dirty="0" err="1"/>
              <a:t>ref_fa</a:t>
            </a:r>
            <a:r>
              <a:rPr lang="en-US" altLang="zh-CN" dirty="0"/>
              <a:t> -</a:t>
            </a:r>
            <a:r>
              <a:rPr lang="en-US" altLang="zh-CN" dirty="0" err="1"/>
              <a:t>dbtype</a:t>
            </a:r>
            <a:r>
              <a:rPr lang="en-US" altLang="zh-CN" dirty="0"/>
              <a:t> $</a:t>
            </a:r>
            <a:r>
              <a:rPr lang="en-US" altLang="zh-CN" dirty="0" err="1"/>
              <a:t>params.dbtype</a:t>
            </a:r>
            <a:r>
              <a:rPr lang="en-US" altLang="zh-CN" dirty="0"/>
              <a:t> -out $db</a:t>
            </a:r>
            <a:endParaRPr lang="zh-CN" altLang="en-US" dirty="0"/>
          </a:p>
          <a:p>
            <a:r>
              <a:rPr lang="zh-CN" altLang="en-US" dirty="0"/>
              <a:t>        </a:t>
            </a:r>
            <a:r>
              <a:rPr lang="en-US" altLang="zh-CN" dirty="0"/>
              <a:t>"""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}</a:t>
            </a:r>
            <a:endParaRPr lang="zh-CN" altLang="en-US" dirty="0"/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76079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C3254-0EA9-43D2-B49D-6EF2742F3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1434" y="22854"/>
            <a:ext cx="10515600" cy="1325563"/>
          </a:xfrm>
        </p:spPr>
        <p:txBody>
          <a:bodyPr/>
          <a:lstStyle/>
          <a:p>
            <a:r>
              <a:rPr lang="en-US" dirty="0"/>
              <a:t>Unit testing: test alignment process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DD81A9-2543-4217-95D4-A84F467473DB}"/>
              </a:ext>
            </a:extLst>
          </p:cNvPr>
          <p:cNvSpPr txBox="1"/>
          <p:nvPr/>
        </p:nvSpPr>
        <p:spPr>
          <a:xfrm>
            <a:off x="1103376" y="1348417"/>
            <a:ext cx="7925010" cy="535531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process blast{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input: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file '</a:t>
            </a:r>
            <a:r>
              <a:rPr lang="en-US" altLang="zh-CN" dirty="0" err="1"/>
              <a:t>query_file</a:t>
            </a:r>
            <a:r>
              <a:rPr lang="en-US" altLang="zh-CN" dirty="0"/>
              <a:t>' from </a:t>
            </a:r>
            <a:r>
              <a:rPr lang="en-US" altLang="zh-CN" dirty="0" err="1"/>
              <a:t>query_ch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output: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file '</a:t>
            </a:r>
            <a:r>
              <a:rPr lang="en-US" altLang="zh-CN" dirty="0" err="1"/>
              <a:t>blast_hits</a:t>
            </a:r>
            <a:r>
              <a:rPr lang="en-US" altLang="zh-CN" dirty="0"/>
              <a:t>' into </a:t>
            </a:r>
            <a:r>
              <a:rPr lang="en-US" altLang="zh-CN" dirty="0" err="1"/>
              <a:t>hit_ch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script: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if (</a:t>
            </a:r>
            <a:r>
              <a:rPr lang="en-US" altLang="zh-CN" dirty="0" err="1"/>
              <a:t>params.dbtype</a:t>
            </a:r>
            <a:r>
              <a:rPr lang="en-US" altLang="zh-CN" dirty="0"/>
              <a:t> == '</a:t>
            </a:r>
            <a:r>
              <a:rPr lang="en-US" altLang="zh-CN" dirty="0" err="1"/>
              <a:t>nucl</a:t>
            </a:r>
            <a:r>
              <a:rPr lang="en-US" altLang="zh-CN" dirty="0"/>
              <a:t>'){</a:t>
            </a:r>
            <a:endParaRPr lang="zh-CN" altLang="en-US" dirty="0"/>
          </a:p>
          <a:p>
            <a:r>
              <a:rPr lang="zh-CN" altLang="en-US" dirty="0"/>
              <a:t>        </a:t>
            </a:r>
            <a:r>
              <a:rPr lang="en-US" altLang="zh-CN" dirty="0"/>
              <a:t>"""</a:t>
            </a:r>
            <a:endParaRPr lang="zh-CN" altLang="en-US" dirty="0"/>
          </a:p>
          <a:p>
            <a:r>
              <a:rPr lang="en-US" altLang="zh-CN" dirty="0"/>
              <a:t>        </a:t>
            </a:r>
            <a:r>
              <a:rPr lang="en-US" altLang="zh-CN" dirty="0" err="1"/>
              <a:t>blastn</a:t>
            </a:r>
            <a:r>
              <a:rPr lang="en-US" altLang="zh-CN" dirty="0"/>
              <a:t> -db $db -</a:t>
            </a:r>
            <a:r>
              <a:rPr lang="en-US" altLang="zh-CN" dirty="0" err="1"/>
              <a:t>outfmt</a:t>
            </a:r>
            <a:r>
              <a:rPr lang="en-US" altLang="zh-CN" dirty="0"/>
              <a:t> $</a:t>
            </a:r>
            <a:r>
              <a:rPr lang="en-US" altLang="zh-CN" dirty="0" err="1"/>
              <a:t>params.outfmt</a:t>
            </a:r>
            <a:r>
              <a:rPr lang="en-US" altLang="zh-CN" dirty="0"/>
              <a:t> -query </a:t>
            </a:r>
            <a:r>
              <a:rPr lang="en-US" altLang="zh-CN" dirty="0" err="1"/>
              <a:t>query_file</a:t>
            </a:r>
            <a:r>
              <a:rPr lang="en-US" altLang="zh-CN" dirty="0"/>
              <a:t> -out </a:t>
            </a:r>
            <a:r>
              <a:rPr lang="en-US" altLang="zh-CN" dirty="0" err="1"/>
              <a:t>blast_hits</a:t>
            </a:r>
            <a:endParaRPr lang="zh-CN" altLang="en-US" dirty="0"/>
          </a:p>
          <a:p>
            <a:r>
              <a:rPr lang="zh-CN" altLang="en-US" dirty="0"/>
              <a:t>        </a:t>
            </a:r>
            <a:r>
              <a:rPr lang="en-US" altLang="zh-CN" dirty="0"/>
              <a:t>"""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}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else if (</a:t>
            </a:r>
            <a:r>
              <a:rPr lang="en-US" altLang="zh-CN" dirty="0" err="1"/>
              <a:t>params.dbtype</a:t>
            </a:r>
            <a:r>
              <a:rPr lang="en-US" altLang="zh-CN" dirty="0"/>
              <a:t> == '</a:t>
            </a:r>
            <a:r>
              <a:rPr lang="en-US" altLang="zh-CN" dirty="0" err="1"/>
              <a:t>prot</a:t>
            </a:r>
            <a:r>
              <a:rPr lang="en-US" altLang="zh-CN" dirty="0"/>
              <a:t>'){</a:t>
            </a:r>
            <a:endParaRPr lang="zh-CN" altLang="en-US" dirty="0"/>
          </a:p>
          <a:p>
            <a:r>
              <a:rPr lang="zh-CN" altLang="en-US" dirty="0"/>
              <a:t>        </a:t>
            </a:r>
            <a:r>
              <a:rPr lang="en-US" altLang="zh-CN" dirty="0"/>
              <a:t>"""</a:t>
            </a:r>
            <a:endParaRPr lang="zh-CN" altLang="en-US" dirty="0"/>
          </a:p>
          <a:p>
            <a:r>
              <a:rPr lang="en-US" altLang="zh-CN" dirty="0"/>
              <a:t>        </a:t>
            </a:r>
            <a:r>
              <a:rPr lang="en-US" altLang="zh-CN" dirty="0" err="1"/>
              <a:t>blastp</a:t>
            </a:r>
            <a:r>
              <a:rPr lang="en-US" altLang="zh-CN" dirty="0"/>
              <a:t> -db $db -</a:t>
            </a:r>
            <a:r>
              <a:rPr lang="en-US" altLang="zh-CN" dirty="0" err="1"/>
              <a:t>outfmt</a:t>
            </a:r>
            <a:r>
              <a:rPr lang="en-US" altLang="zh-CN" dirty="0"/>
              <a:t> $</a:t>
            </a:r>
            <a:r>
              <a:rPr lang="en-US" altLang="zh-CN" dirty="0" err="1"/>
              <a:t>params.outfmt</a:t>
            </a:r>
            <a:r>
              <a:rPr lang="en-US" altLang="zh-CN" dirty="0"/>
              <a:t> -query </a:t>
            </a:r>
            <a:r>
              <a:rPr lang="en-US" altLang="zh-CN" dirty="0" err="1"/>
              <a:t>query_file</a:t>
            </a:r>
            <a:r>
              <a:rPr lang="en-US" altLang="zh-CN" dirty="0"/>
              <a:t> -out </a:t>
            </a:r>
            <a:r>
              <a:rPr lang="en-US" altLang="zh-CN" dirty="0" err="1"/>
              <a:t>blast_hits</a:t>
            </a:r>
            <a:endParaRPr lang="zh-CN" altLang="en-US" dirty="0"/>
          </a:p>
          <a:p>
            <a:r>
              <a:rPr lang="zh-CN" altLang="en-US" dirty="0"/>
              <a:t>        </a:t>
            </a:r>
            <a:r>
              <a:rPr lang="en-US" altLang="zh-CN" dirty="0"/>
              <a:t>"""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}</a:t>
            </a:r>
            <a:endParaRPr lang="zh-CN" altLang="en-US" dirty="0"/>
          </a:p>
          <a:p>
            <a:r>
              <a:rPr lang="en-US" altLang="zh-CN" dirty="0"/>
              <a:t>}</a:t>
            </a:r>
            <a:endParaRPr lang="zh-CN" altLang="en-US" dirty="0"/>
          </a:p>
          <a:p>
            <a:r>
              <a:rPr lang="en-US" altLang="zh-CN" dirty="0" err="1"/>
              <a:t>hit_ch.collectFile</a:t>
            </a:r>
            <a:r>
              <a:rPr lang="en-US" altLang="zh-CN" dirty="0"/>
              <a:t>(name: "$</a:t>
            </a:r>
            <a:r>
              <a:rPr lang="en-US" altLang="zh-CN" dirty="0" err="1"/>
              <a:t>params.out</a:t>
            </a:r>
            <a:r>
              <a:rPr lang="en-US" altLang="zh-CN" dirty="0"/>
              <a:t>", </a:t>
            </a:r>
            <a:r>
              <a:rPr lang="en-US" altLang="zh-CN" dirty="0" err="1"/>
              <a:t>newLine:true</a:t>
            </a:r>
            <a:r>
              <a:rPr lang="en-US" altLang="zh-CN" dirty="0"/>
              <a:t>)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.subscribe { </a:t>
            </a:r>
            <a:r>
              <a:rPr lang="en-US" altLang="zh-CN" dirty="0" err="1"/>
              <a:t>println</a:t>
            </a:r>
            <a:r>
              <a:rPr lang="en-US" altLang="zh-CN" dirty="0"/>
              <a:t> "Export blast results to $it"}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21005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AA3A5-8616-49A3-81E8-A32F499D6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Integral Testing: blast.nf on </a:t>
            </a:r>
            <a:r>
              <a:rPr lang="en-US" dirty="0" err="1"/>
              <a:t>blastn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7BABDC-B8ED-4782-B2E3-2DD2C0CC7D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480" r="9224" b="6915"/>
          <a:stretch/>
        </p:blipFill>
        <p:spPr>
          <a:xfrm>
            <a:off x="562303" y="1954924"/>
            <a:ext cx="11067393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943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AA3A5-8616-49A3-81E8-A32F499D6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Integral Testing: blast.nf on </a:t>
            </a:r>
            <a:r>
              <a:rPr lang="en-US" dirty="0" err="1"/>
              <a:t>blastp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A76F30-A145-44D3-8A1B-7435793067B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82" r="11465" b="7580"/>
          <a:stretch/>
        </p:blipFill>
        <p:spPr>
          <a:xfrm>
            <a:off x="388882" y="1965435"/>
            <a:ext cx="10794124" cy="425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9996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5220B-9673-4999-9482-037E093E5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aligner: Bowtie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0BF70-6941-4894-830D-A2078D84A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63375"/>
            <a:ext cx="10515600" cy="913587"/>
          </a:xfrm>
        </p:spPr>
        <p:txBody>
          <a:bodyPr/>
          <a:lstStyle/>
          <a:p>
            <a:r>
              <a:rPr lang="en-US" dirty="0"/>
              <a:t>Bowtie2 is widely used for short reads sequence alignment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98CCAC-4CA5-42B4-92FF-453044A90DE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812" b="42196"/>
          <a:stretch/>
        </p:blipFill>
        <p:spPr>
          <a:xfrm>
            <a:off x="0" y="1527717"/>
            <a:ext cx="12192000" cy="3445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4626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C2FCE-DA84-4D12-B416-1C8132B20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Topology of </a:t>
            </a:r>
            <a:r>
              <a:rPr lang="en-US" dirty="0" err="1"/>
              <a:t>nextflow</a:t>
            </a:r>
            <a:r>
              <a:rPr lang="en-US" dirty="0"/>
              <a:t> pipeline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DA6B06-8CF3-4E98-B108-60A624894C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971" y="2474176"/>
            <a:ext cx="8947904" cy="333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7469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239C0-2A84-4184-AD15-FE44FB035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2047"/>
          </a:xfrm>
        </p:spPr>
        <p:txBody>
          <a:bodyPr/>
          <a:lstStyle/>
          <a:p>
            <a:pPr algn="ctr"/>
            <a:r>
              <a:rPr lang="en-US" dirty="0"/>
              <a:t>Unit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4A770-1D63-4B15-A426-880ACEC47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2584" y="1494263"/>
            <a:ext cx="6001215" cy="4682700"/>
          </a:xfrm>
        </p:spPr>
        <p:txBody>
          <a:bodyPr/>
          <a:lstStyle/>
          <a:p>
            <a:r>
              <a:rPr lang="en-US" dirty="0"/>
              <a:t>Test all </a:t>
            </a:r>
            <a:r>
              <a:rPr lang="en-US" dirty="0" err="1"/>
              <a:t>nextflow</a:t>
            </a:r>
            <a:r>
              <a:rPr lang="en-US" dirty="0"/>
              <a:t> blocks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157E54-8DEC-4DEA-A19A-43B3B2A537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025" t="28478" r="65335" b="39453"/>
          <a:stretch/>
        </p:blipFill>
        <p:spPr>
          <a:xfrm>
            <a:off x="267629" y="1177172"/>
            <a:ext cx="4572000" cy="499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2639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CEA76-FDEA-47B9-8DB1-244533F2A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functions of picking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A38B1-91B3-4A5B-A7BD-77CFF09BA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272" y="2330605"/>
            <a:ext cx="5655527" cy="3846357"/>
          </a:xfrm>
        </p:spPr>
        <p:txBody>
          <a:bodyPr/>
          <a:lstStyle/>
          <a:p>
            <a:r>
              <a:rPr lang="en-US" dirty="0"/>
              <a:t>Files needed:</a:t>
            </a:r>
            <a:br>
              <a:rPr lang="en-US" dirty="0"/>
            </a:br>
            <a:r>
              <a:rPr lang="en-US" dirty="0"/>
              <a:t>reference in </a:t>
            </a:r>
            <a:r>
              <a:rPr lang="en-US" dirty="0" err="1"/>
              <a:t>fasta</a:t>
            </a:r>
            <a:br>
              <a:rPr lang="en-US" dirty="0"/>
            </a:br>
            <a:r>
              <a:rPr lang="en-US" dirty="0"/>
              <a:t>DNA query file in </a:t>
            </a:r>
            <a:r>
              <a:rPr lang="en-US" dirty="0" err="1"/>
              <a:t>fastq</a:t>
            </a:r>
            <a:r>
              <a:rPr lang="en-US" dirty="0"/>
              <a:t> with single- or paired-end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EE3E31-9893-4539-AD78-6F6369FEE8D1}"/>
              </a:ext>
            </a:extLst>
          </p:cNvPr>
          <p:cNvSpPr txBox="1"/>
          <p:nvPr/>
        </p:nvSpPr>
        <p:spPr>
          <a:xfrm>
            <a:off x="838200" y="1950572"/>
            <a:ext cx="4235605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/>
              <a:t>//pick up fastq files</a:t>
            </a:r>
            <a:endParaRPr lang="zh-CN" altLang="en-US"/>
          </a:p>
          <a:p>
            <a:r>
              <a:rPr lang="en-US" altLang="zh-CN"/>
              <a:t>rawData = file(params.rawData)</a:t>
            </a:r>
            <a:endParaRPr lang="zh-CN" altLang="en-US"/>
          </a:p>
          <a:p>
            <a:r>
              <a:rPr lang="en-US" altLang="zh-CN"/>
              <a:t>fqType = params.fqType</a:t>
            </a:r>
            <a:endParaRPr lang="zh-CN" altLang="en-US"/>
          </a:p>
          <a:p>
            <a:r>
              <a:rPr lang="en-US" altLang="zh-CN"/>
              <a:t>Channel</a:t>
            </a:r>
            <a:endParaRPr lang="zh-CN" altLang="en-US"/>
          </a:p>
          <a:p>
            <a:r>
              <a:rPr lang="zh-CN" altLang="en-US"/>
              <a:t>    </a:t>
            </a:r>
            <a:r>
              <a:rPr lang="en-US" altLang="zh-CN"/>
              <a:t>.fromFilePairs("${rawData}/*R{1,2}*.fq")</a:t>
            </a:r>
            <a:endParaRPr lang="zh-CN" altLang="en-US"/>
          </a:p>
          <a:p>
            <a:r>
              <a:rPr lang="zh-CN" altLang="en-US"/>
              <a:t>    </a:t>
            </a:r>
            <a:r>
              <a:rPr lang="en-US" altLang="zh-CN"/>
              <a:t>.set {paired_ch}</a:t>
            </a:r>
            <a:endParaRPr lang="zh-CN" altLang="en-US"/>
          </a:p>
          <a:p>
            <a:r>
              <a:rPr lang="en-US" altLang="zh-CN"/>
              <a:t>Channel</a:t>
            </a:r>
            <a:endParaRPr lang="zh-CN" altLang="en-US"/>
          </a:p>
          <a:p>
            <a:r>
              <a:rPr lang="zh-CN" altLang="en-US"/>
              <a:t>    </a:t>
            </a:r>
            <a:r>
              <a:rPr lang="en-US" altLang="zh-CN"/>
              <a:t>.fromPath("${rawData}/*R1*.fq")</a:t>
            </a:r>
            <a:endParaRPr lang="zh-CN" altLang="en-US"/>
          </a:p>
          <a:p>
            <a:r>
              <a:rPr lang="zh-CN" altLang="en-US"/>
              <a:t>    </a:t>
            </a:r>
            <a:r>
              <a:rPr lang="en-US" altLang="zh-CN"/>
              <a:t>.set {single_ch}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//reference</a:t>
            </a:r>
            <a:endParaRPr lang="zh-CN" altLang="en-US"/>
          </a:p>
          <a:p>
            <a:r>
              <a:rPr lang="it-IT" altLang="zh-CN"/>
              <a:t>ref_fa = file(params.reference)</a:t>
            </a:r>
            <a:endParaRPr lang="zh-CN" altLang="en-US"/>
          </a:p>
          <a:p>
            <a:r>
              <a:rPr lang="en-US" altLang="zh-CN"/>
              <a:t>//result</a:t>
            </a:r>
            <a:endParaRPr lang="zh-CN" altLang="en-US"/>
          </a:p>
          <a:p>
            <a:r>
              <a:rPr lang="en-US" altLang="zh-CN"/>
              <a:t>result_path = file("${params.result}")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627072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CEA76-FDEA-47B9-8DB1-244533F2A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50283"/>
            <a:ext cx="10515600" cy="861509"/>
          </a:xfrm>
        </p:spPr>
        <p:txBody>
          <a:bodyPr/>
          <a:lstStyle/>
          <a:p>
            <a:r>
              <a:rPr lang="en-US" dirty="0" err="1"/>
              <a:t>Nextflow</a:t>
            </a:r>
            <a:r>
              <a:rPr lang="en-US" dirty="0"/>
              <a:t> process for building 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A38B1-91B3-4A5B-A7BD-77CFF09BA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0888" y="1806499"/>
            <a:ext cx="3692912" cy="4370464"/>
          </a:xfrm>
        </p:spPr>
        <p:txBody>
          <a:bodyPr/>
          <a:lstStyle/>
          <a:p>
            <a:r>
              <a:rPr lang="en-US" dirty="0"/>
              <a:t>The process recognizes index file, and automatically decides whether to build a new one or skip this process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EE3E31-9893-4539-AD78-6F6369FEE8D1}"/>
              </a:ext>
            </a:extLst>
          </p:cNvPr>
          <p:cNvSpPr txBox="1"/>
          <p:nvPr/>
        </p:nvSpPr>
        <p:spPr>
          <a:xfrm>
            <a:off x="838199" y="1111792"/>
            <a:ext cx="6521605" cy="56323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process </a:t>
            </a:r>
            <a:r>
              <a:rPr lang="en-US" altLang="zh-CN" dirty="0" err="1"/>
              <a:t>buildIndex</a:t>
            </a:r>
            <a:r>
              <a:rPr lang="en-US" altLang="zh-CN" dirty="0"/>
              <a:t>{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input: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file ref from </a:t>
            </a:r>
            <a:r>
              <a:rPr lang="en-US" altLang="zh-CN" dirty="0" err="1"/>
              <a:t>ref_fa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output: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 err="1"/>
              <a:t>val</a:t>
            </a:r>
            <a:r>
              <a:rPr lang="en-US" altLang="zh-CN" dirty="0"/>
              <a:t> index into </a:t>
            </a:r>
            <a:r>
              <a:rPr lang="en-US" altLang="zh-CN" dirty="0" err="1"/>
              <a:t>index_ch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script: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index = file("${</a:t>
            </a:r>
            <a:r>
              <a:rPr lang="en-US" altLang="zh-CN" dirty="0" err="1"/>
              <a:t>ref_fa.parent</a:t>
            </a:r>
            <a:r>
              <a:rPr lang="en-US" altLang="zh-CN" dirty="0"/>
              <a:t>}/${</a:t>
            </a:r>
            <a:r>
              <a:rPr lang="en-US" altLang="zh-CN" dirty="0" err="1"/>
              <a:t>ref_fa.baseName</a:t>
            </a:r>
            <a:r>
              <a:rPr lang="en-US" altLang="zh-CN" dirty="0"/>
              <a:t>}")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 err="1"/>
              <a:t>index_file</a:t>
            </a:r>
            <a:r>
              <a:rPr lang="en-US" altLang="zh-CN" dirty="0"/>
              <a:t> = file ("${</a:t>
            </a:r>
            <a:r>
              <a:rPr lang="en-US" altLang="zh-CN" dirty="0" err="1"/>
              <a:t>ref_fa.parent</a:t>
            </a:r>
            <a:r>
              <a:rPr lang="en-US" altLang="zh-CN" dirty="0"/>
              <a:t>}/${</a:t>
            </a:r>
            <a:r>
              <a:rPr lang="en-US" altLang="zh-CN" dirty="0" err="1"/>
              <a:t>ref_fa.baseName</a:t>
            </a:r>
            <a:r>
              <a:rPr lang="en-US" altLang="zh-CN" dirty="0"/>
              <a:t>}.1.bt2")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if ( </a:t>
            </a:r>
            <a:r>
              <a:rPr lang="en-US" altLang="zh-CN" dirty="0" err="1"/>
              <a:t>index_file.isFile</a:t>
            </a:r>
            <a:r>
              <a:rPr lang="en-US" altLang="zh-CN" dirty="0"/>
              <a:t>() ){</a:t>
            </a:r>
            <a:endParaRPr lang="zh-CN" altLang="en-US" dirty="0"/>
          </a:p>
          <a:p>
            <a:r>
              <a:rPr lang="zh-CN" altLang="en-US" dirty="0"/>
              <a:t>        </a:t>
            </a:r>
            <a:r>
              <a:rPr lang="en-US" altLang="zh-CN" dirty="0"/>
              <a:t>"""</a:t>
            </a:r>
            <a:endParaRPr lang="zh-CN" altLang="en-US" dirty="0"/>
          </a:p>
          <a:p>
            <a:r>
              <a:rPr lang="zh-CN" altLang="en-US" dirty="0"/>
              <a:t>        </a:t>
            </a:r>
            <a:r>
              <a:rPr lang="en-US" altLang="zh-CN" dirty="0"/>
              <a:t>echo "The index files of $ref exist. skip index building"</a:t>
            </a:r>
            <a:endParaRPr lang="zh-CN" altLang="en-US" dirty="0"/>
          </a:p>
          <a:p>
            <a:r>
              <a:rPr lang="zh-CN" altLang="en-US" dirty="0"/>
              <a:t>        </a:t>
            </a:r>
            <a:r>
              <a:rPr lang="en-US" altLang="zh-CN" dirty="0"/>
              <a:t>"""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} 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else{</a:t>
            </a:r>
            <a:endParaRPr lang="zh-CN" altLang="en-US" dirty="0"/>
          </a:p>
          <a:p>
            <a:r>
              <a:rPr lang="zh-CN" altLang="en-US" dirty="0"/>
              <a:t>        </a:t>
            </a:r>
            <a:r>
              <a:rPr lang="en-US" altLang="zh-CN" dirty="0"/>
              <a:t>"""</a:t>
            </a:r>
            <a:endParaRPr lang="zh-CN" altLang="en-US" dirty="0"/>
          </a:p>
          <a:p>
            <a:r>
              <a:rPr lang="zh-CN" altLang="en-US" dirty="0"/>
              <a:t>        </a:t>
            </a:r>
            <a:r>
              <a:rPr lang="en-US" altLang="zh-CN" dirty="0"/>
              <a:t>echo "Build blast index file based on $ref."</a:t>
            </a:r>
            <a:endParaRPr lang="zh-CN" altLang="en-US" dirty="0"/>
          </a:p>
          <a:p>
            <a:r>
              <a:rPr lang="zh-CN" altLang="en-US" dirty="0"/>
              <a:t>        </a:t>
            </a:r>
            <a:r>
              <a:rPr lang="en-US" altLang="zh-CN" dirty="0"/>
              <a:t>bowtie2-build ${ref} ${index}</a:t>
            </a:r>
            <a:endParaRPr lang="zh-CN" altLang="en-US" dirty="0"/>
          </a:p>
          <a:p>
            <a:r>
              <a:rPr lang="zh-CN" altLang="en-US" dirty="0"/>
              <a:t>        </a:t>
            </a:r>
            <a:r>
              <a:rPr lang="en-US" altLang="zh-CN" dirty="0"/>
              <a:t>"""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}</a:t>
            </a:r>
            <a:endParaRPr lang="zh-CN" altLang="en-US" dirty="0"/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05913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CEA76-FDEA-47B9-8DB1-244533F2A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3375"/>
            <a:ext cx="10515600" cy="660787"/>
          </a:xfrm>
        </p:spPr>
        <p:txBody>
          <a:bodyPr>
            <a:normAutofit fontScale="90000"/>
          </a:bodyPr>
          <a:lstStyle/>
          <a:p>
            <a:r>
              <a:rPr lang="en-US" dirty="0"/>
              <a:t>Sequence alignment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A38B1-91B3-4A5B-A7BD-77CFF09BA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2058" y="3429001"/>
            <a:ext cx="2698596" cy="2747962"/>
          </a:xfrm>
        </p:spPr>
        <p:txBody>
          <a:bodyPr>
            <a:normAutofit/>
          </a:bodyPr>
          <a:lstStyle/>
          <a:p>
            <a:r>
              <a:rPr lang="en-US" dirty="0"/>
              <a:t>Automatically decide either of the two processes can be launched.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EE3E31-9893-4539-AD78-6F6369FEE8D1}"/>
              </a:ext>
            </a:extLst>
          </p:cNvPr>
          <p:cNvSpPr txBox="1"/>
          <p:nvPr/>
        </p:nvSpPr>
        <p:spPr>
          <a:xfrm>
            <a:off x="1050072" y="844162"/>
            <a:ext cx="7870903" cy="618630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process bowtie2_paired{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input: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set </a:t>
            </a:r>
            <a:r>
              <a:rPr lang="en-US" altLang="zh-CN" dirty="0" err="1"/>
              <a:t>sampleID</a:t>
            </a:r>
            <a:r>
              <a:rPr lang="en-US" altLang="zh-CN" dirty="0"/>
              <a:t>, pair from </a:t>
            </a:r>
            <a:r>
              <a:rPr lang="en-US" altLang="zh-CN" dirty="0" err="1"/>
              <a:t>paired_ch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 err="1"/>
              <a:t>val</a:t>
            </a:r>
            <a:r>
              <a:rPr lang="en-US" altLang="zh-CN" dirty="0"/>
              <a:t> index from </a:t>
            </a:r>
            <a:r>
              <a:rPr lang="en-US" altLang="zh-CN" dirty="0" err="1"/>
              <a:t>index_ch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 err="1"/>
              <a:t>val</a:t>
            </a:r>
            <a:r>
              <a:rPr lang="en-US" altLang="zh-CN" dirty="0"/>
              <a:t> result from </a:t>
            </a:r>
            <a:r>
              <a:rPr lang="en-US" altLang="zh-CN" dirty="0" err="1"/>
              <a:t>result_path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when: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 err="1"/>
              <a:t>fqType</a:t>
            </a:r>
            <a:r>
              <a:rPr lang="en-US" altLang="zh-CN" dirty="0"/>
              <a:t> == 'paired'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"""</a:t>
            </a:r>
            <a:endParaRPr lang="zh-CN" altLang="en-US" dirty="0"/>
          </a:p>
          <a:p>
            <a:r>
              <a:rPr lang="en-US" altLang="zh-CN" dirty="0"/>
              <a:t>    bowtie2 -x ${index} -S $result/${</a:t>
            </a:r>
            <a:r>
              <a:rPr lang="en-US" altLang="zh-CN" dirty="0" err="1"/>
              <a:t>sampleID</a:t>
            </a:r>
            <a:r>
              <a:rPr lang="en-US" altLang="zh-CN" dirty="0"/>
              <a:t>}.</a:t>
            </a:r>
            <a:r>
              <a:rPr lang="en-US" altLang="zh-CN" dirty="0" err="1"/>
              <a:t>sam</a:t>
            </a:r>
            <a:r>
              <a:rPr lang="en-US" altLang="zh-CN" dirty="0"/>
              <a:t> -1 ${pair[0]} -2 ${pair[1]}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"""</a:t>
            </a:r>
            <a:endParaRPr lang="zh-CN" altLang="en-US" dirty="0"/>
          </a:p>
          <a:p>
            <a:r>
              <a:rPr lang="en-US" altLang="zh-CN" dirty="0"/>
              <a:t>}</a:t>
            </a:r>
            <a:endParaRPr lang="zh-CN" altLang="en-US" dirty="0"/>
          </a:p>
          <a:p>
            <a:r>
              <a:rPr lang="en-US" altLang="zh-CN" dirty="0"/>
              <a:t>process bowtie2_single{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input: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file R1 from </a:t>
            </a:r>
            <a:r>
              <a:rPr lang="en-US" altLang="zh-CN" dirty="0" err="1"/>
              <a:t>single_ch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 err="1"/>
              <a:t>val</a:t>
            </a:r>
            <a:r>
              <a:rPr lang="en-US" altLang="zh-CN" dirty="0"/>
              <a:t> index from </a:t>
            </a:r>
            <a:r>
              <a:rPr lang="en-US" altLang="zh-CN" dirty="0" err="1"/>
              <a:t>index_ch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 err="1"/>
              <a:t>val</a:t>
            </a:r>
            <a:r>
              <a:rPr lang="en-US" altLang="zh-CN" dirty="0"/>
              <a:t> result from </a:t>
            </a:r>
            <a:r>
              <a:rPr lang="en-US" altLang="zh-CN" dirty="0" err="1"/>
              <a:t>result_path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when: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 err="1"/>
              <a:t>fqType</a:t>
            </a:r>
            <a:r>
              <a:rPr lang="en-US" altLang="zh-CN" dirty="0"/>
              <a:t> == 'single'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"""</a:t>
            </a:r>
            <a:endParaRPr lang="zh-CN" altLang="en-US" dirty="0"/>
          </a:p>
          <a:p>
            <a:r>
              <a:rPr lang="en-US" altLang="zh-CN" dirty="0"/>
              <a:t>    bowtie2 -x ${index} -S $result/${R1.baseName}.</a:t>
            </a:r>
            <a:r>
              <a:rPr lang="en-US" altLang="zh-CN" dirty="0" err="1"/>
              <a:t>sam</a:t>
            </a:r>
            <a:r>
              <a:rPr lang="en-US" altLang="zh-CN" dirty="0"/>
              <a:t> -q ${R1}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"""</a:t>
            </a:r>
            <a:endParaRPr lang="zh-CN" altLang="en-US" dirty="0"/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08385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64F49-167A-4785-AB0C-07DE799C0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Integral testing on all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B987C-5405-4388-AF2E-C7483EC68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31366"/>
            <a:ext cx="10515600" cy="545596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07C19D-6BAD-480F-B4B5-001DB75259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71" t="36538" r="5976" b="12700"/>
          <a:stretch/>
        </p:blipFill>
        <p:spPr>
          <a:xfrm>
            <a:off x="650237" y="1932587"/>
            <a:ext cx="11281568" cy="345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3841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6E0A9-1DC1-4FE0-8406-77CD5DB99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Integral Testing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FFEECF-C2C5-4B6F-ADEB-0AD5B748CD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79"/>
          <a:stretch/>
        </p:blipFill>
        <p:spPr>
          <a:xfrm>
            <a:off x="92597" y="1400537"/>
            <a:ext cx="12192000" cy="5265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1040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8340B-8AE4-4FC7-BDD7-D9B94E388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6728"/>
            <a:ext cx="4932680" cy="1392246"/>
          </a:xfrm>
        </p:spPr>
        <p:txBody>
          <a:bodyPr/>
          <a:lstStyle/>
          <a:p>
            <a:r>
              <a:rPr lang="en-US" dirty="0"/>
              <a:t>Topology of the VC pipeline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F5D5A9-7253-4FC5-BCC5-636B5AC6B3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4400" y="691197"/>
            <a:ext cx="3362960" cy="5525577"/>
          </a:xfr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5F7D129-20B1-4D64-AC06-7AB710BCA9FF}"/>
              </a:ext>
            </a:extLst>
          </p:cNvPr>
          <p:cNvSpPr txBox="1">
            <a:spLocks/>
          </p:cNvSpPr>
          <p:nvPr/>
        </p:nvSpPr>
        <p:spPr>
          <a:xfrm>
            <a:off x="513080" y="2485381"/>
            <a:ext cx="5257800" cy="35083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Variants: SNPs, copy number variation (CNV), deletion, insertion</a:t>
            </a:r>
          </a:p>
          <a:p>
            <a:r>
              <a:rPr lang="en-US" dirty="0"/>
              <a:t>Data source: </a:t>
            </a:r>
            <a:br>
              <a:rPr lang="en-US" dirty="0"/>
            </a:br>
            <a:r>
              <a:rPr lang="en-US" dirty="0"/>
              <a:t>DNA level: whole genome sequencing, exome sequencing</a:t>
            </a:r>
            <a:br>
              <a:rPr lang="en-US" dirty="0"/>
            </a:br>
            <a:r>
              <a:rPr lang="en-US" dirty="0"/>
              <a:t>RNA level: mRNA-seq </a:t>
            </a:r>
          </a:p>
          <a:p>
            <a:r>
              <a:rPr lang="en-US" dirty="0"/>
              <a:t>Bioinformatics tools: bowtie2, </a:t>
            </a:r>
            <a:r>
              <a:rPr lang="en-US" dirty="0" err="1"/>
              <a:t>samtools</a:t>
            </a:r>
            <a:r>
              <a:rPr lang="en-US" dirty="0"/>
              <a:t>, </a:t>
            </a:r>
            <a:r>
              <a:rPr lang="en-US" dirty="0" err="1"/>
              <a:t>bcftools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9005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AF8AE-9461-4766-8D06-465B9F84A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6955"/>
          </a:xfrm>
        </p:spPr>
        <p:txBody>
          <a:bodyPr/>
          <a:lstStyle/>
          <a:p>
            <a:r>
              <a:rPr lang="en-US" dirty="0"/>
              <a:t>Bowtie2 -&gt; </a:t>
            </a:r>
            <a:r>
              <a:rPr lang="en-US" dirty="0" err="1"/>
              <a:t>samtools</a:t>
            </a:r>
            <a:r>
              <a:rPr lang="en-US" dirty="0"/>
              <a:t> -&gt; </a:t>
            </a:r>
            <a:r>
              <a:rPr lang="en-US" dirty="0" err="1"/>
              <a:t>bcftools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1FB5266-E3EA-48F2-A676-88ECD5BB7C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978" r="45163" b="4773"/>
          <a:stretch/>
        </p:blipFill>
        <p:spPr>
          <a:xfrm>
            <a:off x="2296999" y="1836730"/>
            <a:ext cx="6924762" cy="3023552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7AB3E35-2BE5-4713-8CA3-2150B44C1A4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50" t="62297" r="45333" b="14376"/>
          <a:stretch/>
        </p:blipFill>
        <p:spPr>
          <a:xfrm>
            <a:off x="535940" y="5006324"/>
            <a:ext cx="10957560" cy="163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3745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2C229-5176-42E4-803B-789767C6A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2480" y="365125"/>
            <a:ext cx="6751320" cy="1325563"/>
          </a:xfrm>
        </p:spPr>
        <p:txBody>
          <a:bodyPr/>
          <a:lstStyle/>
          <a:p>
            <a:r>
              <a:rPr lang="en-US" dirty="0"/>
              <a:t>Unit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9339F-D353-4883-8C47-CF2DD49A0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6880" y="1825625"/>
            <a:ext cx="3296920" cy="4351338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02F046-34E9-4382-9F49-967B61F2ED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667" t="28516" r="66083" b="27890"/>
          <a:stretch/>
        </p:blipFill>
        <p:spPr>
          <a:xfrm>
            <a:off x="731520" y="569495"/>
            <a:ext cx="3505201" cy="571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9968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CEA76-FDEA-47B9-8DB1-244533F2A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50283"/>
            <a:ext cx="10515600" cy="861509"/>
          </a:xfrm>
        </p:spPr>
        <p:txBody>
          <a:bodyPr/>
          <a:lstStyle/>
          <a:p>
            <a:r>
              <a:rPr lang="en-US" dirty="0"/>
              <a:t>Pick up input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A38B1-91B3-4A5B-A7BD-77CFF09BA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0888" y="1806499"/>
            <a:ext cx="3692912" cy="437046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EE3E31-9893-4539-AD78-6F6369FEE8D1}"/>
              </a:ext>
            </a:extLst>
          </p:cNvPr>
          <p:cNvSpPr txBox="1"/>
          <p:nvPr/>
        </p:nvSpPr>
        <p:spPr>
          <a:xfrm>
            <a:off x="838199" y="1111792"/>
            <a:ext cx="6521605" cy="507831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//pick up </a:t>
            </a:r>
            <a:r>
              <a:rPr lang="en-US" altLang="zh-CN" dirty="0" err="1"/>
              <a:t>fastq</a:t>
            </a:r>
            <a:r>
              <a:rPr lang="en-US" altLang="zh-CN" dirty="0"/>
              <a:t> files</a:t>
            </a:r>
            <a:endParaRPr lang="zh-CN" altLang="en-US" dirty="0"/>
          </a:p>
          <a:p>
            <a:r>
              <a:rPr lang="en-US" altLang="zh-CN" dirty="0" err="1"/>
              <a:t>rawData</a:t>
            </a:r>
            <a:r>
              <a:rPr lang="en-US" altLang="zh-CN" dirty="0"/>
              <a:t> = file(</a:t>
            </a:r>
            <a:r>
              <a:rPr lang="en-US" altLang="zh-CN" dirty="0" err="1"/>
              <a:t>params.rawData</a:t>
            </a:r>
            <a:r>
              <a:rPr lang="en-US" altLang="zh-CN" dirty="0"/>
              <a:t>)</a:t>
            </a:r>
            <a:endParaRPr lang="zh-CN" altLang="en-US" dirty="0"/>
          </a:p>
          <a:p>
            <a:r>
              <a:rPr lang="en-US" altLang="zh-CN" dirty="0" err="1"/>
              <a:t>fqType</a:t>
            </a:r>
            <a:r>
              <a:rPr lang="en-US" altLang="zh-CN" dirty="0"/>
              <a:t> = </a:t>
            </a:r>
            <a:r>
              <a:rPr lang="en-US" altLang="zh-CN" dirty="0" err="1"/>
              <a:t>params.fqType</a:t>
            </a:r>
            <a:endParaRPr lang="zh-CN" altLang="en-US" dirty="0"/>
          </a:p>
          <a:p>
            <a:r>
              <a:rPr lang="en-US" altLang="zh-CN" dirty="0"/>
              <a:t>if(</a:t>
            </a:r>
            <a:r>
              <a:rPr lang="en-US" altLang="zh-CN" dirty="0" err="1"/>
              <a:t>fqType</a:t>
            </a:r>
            <a:r>
              <a:rPr lang="en-US" altLang="zh-CN" dirty="0"/>
              <a:t> == 'paired'){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Channel</a:t>
            </a:r>
            <a:endParaRPr lang="zh-CN" altLang="en-US" dirty="0"/>
          </a:p>
          <a:p>
            <a:r>
              <a:rPr lang="zh-CN" altLang="en-US" dirty="0"/>
              <a:t>        </a:t>
            </a:r>
            <a:r>
              <a:rPr lang="en-US" altLang="zh-CN" dirty="0"/>
              <a:t>.</a:t>
            </a:r>
            <a:r>
              <a:rPr lang="en-US" altLang="zh-CN" dirty="0" err="1"/>
              <a:t>fromFilePairs</a:t>
            </a:r>
            <a:r>
              <a:rPr lang="en-US" altLang="zh-CN" dirty="0"/>
              <a:t>("${</a:t>
            </a:r>
            <a:r>
              <a:rPr lang="en-US" altLang="zh-CN" dirty="0" err="1"/>
              <a:t>rawData</a:t>
            </a:r>
            <a:r>
              <a:rPr lang="en-US" altLang="zh-CN" dirty="0"/>
              <a:t>}/*R{1,2}*.</a:t>
            </a:r>
            <a:r>
              <a:rPr lang="en-US" altLang="zh-CN" dirty="0" err="1"/>
              <a:t>fq</a:t>
            </a:r>
            <a:r>
              <a:rPr lang="en-US" altLang="zh-CN" dirty="0"/>
              <a:t>")</a:t>
            </a:r>
            <a:endParaRPr lang="zh-CN" altLang="en-US" dirty="0"/>
          </a:p>
          <a:p>
            <a:r>
              <a:rPr lang="zh-CN" altLang="en-US" dirty="0"/>
              <a:t>        </a:t>
            </a:r>
            <a:r>
              <a:rPr lang="en-US" altLang="zh-CN" dirty="0"/>
              <a:t>.set {</a:t>
            </a:r>
            <a:r>
              <a:rPr lang="en-US" altLang="zh-CN" dirty="0" err="1"/>
              <a:t>fq_ch</a:t>
            </a:r>
            <a:r>
              <a:rPr lang="en-US" altLang="zh-CN" dirty="0"/>
              <a:t>}</a:t>
            </a:r>
            <a:endParaRPr lang="zh-CN" altLang="en-US" dirty="0"/>
          </a:p>
          <a:p>
            <a:r>
              <a:rPr lang="en-US" altLang="zh-CN" dirty="0"/>
              <a:t>}else{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Channel</a:t>
            </a:r>
            <a:endParaRPr lang="zh-CN" altLang="en-US" dirty="0"/>
          </a:p>
          <a:p>
            <a:r>
              <a:rPr lang="zh-CN" altLang="en-US" dirty="0"/>
              <a:t>        </a:t>
            </a:r>
            <a:r>
              <a:rPr lang="en-US" altLang="zh-CN" dirty="0"/>
              <a:t>.</a:t>
            </a:r>
            <a:r>
              <a:rPr lang="en-US" altLang="zh-CN" dirty="0" err="1"/>
              <a:t>fromPath</a:t>
            </a:r>
            <a:r>
              <a:rPr lang="en-US" altLang="zh-CN" dirty="0"/>
              <a:t>("${</a:t>
            </a:r>
            <a:r>
              <a:rPr lang="en-US" altLang="zh-CN" dirty="0" err="1"/>
              <a:t>rawData</a:t>
            </a:r>
            <a:r>
              <a:rPr lang="en-US" altLang="zh-CN" dirty="0"/>
              <a:t>}/*R1*.</a:t>
            </a:r>
            <a:r>
              <a:rPr lang="en-US" altLang="zh-CN" dirty="0" err="1"/>
              <a:t>fq</a:t>
            </a:r>
            <a:r>
              <a:rPr lang="en-US" altLang="zh-CN" dirty="0"/>
              <a:t>")</a:t>
            </a:r>
            <a:endParaRPr lang="zh-CN" altLang="en-US" dirty="0"/>
          </a:p>
          <a:p>
            <a:r>
              <a:rPr lang="zh-CN" altLang="en-US" dirty="0"/>
              <a:t>        </a:t>
            </a:r>
            <a:r>
              <a:rPr lang="en-US" altLang="zh-CN" dirty="0"/>
              <a:t>.map {it -&gt; [</a:t>
            </a:r>
            <a:r>
              <a:rPr lang="en-US" altLang="zh-CN" dirty="0" err="1"/>
              <a:t>it.baseName</a:t>
            </a:r>
            <a:r>
              <a:rPr lang="en-US" altLang="zh-CN" dirty="0"/>
              <a:t>, it]}</a:t>
            </a:r>
            <a:endParaRPr lang="zh-CN" altLang="en-US" dirty="0"/>
          </a:p>
          <a:p>
            <a:r>
              <a:rPr lang="zh-CN" altLang="en-US" dirty="0"/>
              <a:t>        </a:t>
            </a:r>
            <a:r>
              <a:rPr lang="en-US" altLang="zh-CN" dirty="0"/>
              <a:t>.set {</a:t>
            </a:r>
            <a:r>
              <a:rPr lang="en-US" altLang="zh-CN" dirty="0" err="1"/>
              <a:t>fq_ch</a:t>
            </a:r>
            <a:r>
              <a:rPr lang="en-US" altLang="zh-CN" dirty="0"/>
              <a:t>}</a:t>
            </a:r>
            <a:endParaRPr lang="zh-CN" altLang="en-US" dirty="0"/>
          </a:p>
          <a:p>
            <a:r>
              <a:rPr lang="en-US" altLang="zh-CN" dirty="0"/>
              <a:t>}</a:t>
            </a:r>
            <a:endParaRPr lang="zh-CN" altLang="en-US" dirty="0"/>
          </a:p>
          <a:p>
            <a:r>
              <a:rPr lang="en-US" altLang="zh-CN" dirty="0"/>
              <a:t>//reference</a:t>
            </a:r>
            <a:endParaRPr lang="zh-CN" altLang="en-US" dirty="0"/>
          </a:p>
          <a:p>
            <a:r>
              <a:rPr lang="it-IT" altLang="zh-CN" dirty="0"/>
              <a:t>ref_fa = file(params.reference)</a:t>
            </a:r>
            <a:endParaRPr lang="zh-CN" altLang="en-US" dirty="0"/>
          </a:p>
          <a:p>
            <a:r>
              <a:rPr lang="en-US" altLang="zh-CN" dirty="0"/>
              <a:t>//result</a:t>
            </a:r>
            <a:endParaRPr lang="zh-CN" altLang="en-US" dirty="0"/>
          </a:p>
          <a:p>
            <a:r>
              <a:rPr lang="en-US" altLang="zh-CN" dirty="0"/>
              <a:t>out = file("${</a:t>
            </a:r>
            <a:r>
              <a:rPr lang="en-US" altLang="zh-CN" dirty="0" err="1"/>
              <a:t>params.result</a:t>
            </a:r>
            <a:r>
              <a:rPr lang="en-US" altLang="zh-CN" dirty="0"/>
              <a:t>}")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12004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CEA76-FDEA-47B9-8DB1-244533F2A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50283"/>
            <a:ext cx="10515600" cy="861509"/>
          </a:xfrm>
        </p:spPr>
        <p:txBody>
          <a:bodyPr/>
          <a:lstStyle/>
          <a:p>
            <a:r>
              <a:rPr lang="en-US" dirty="0" err="1"/>
              <a:t>Samtools</a:t>
            </a:r>
            <a:r>
              <a:rPr lang="en-US" dirty="0"/>
              <a:t> convert </a:t>
            </a:r>
            <a:r>
              <a:rPr lang="en-US" dirty="0" err="1"/>
              <a:t>sam</a:t>
            </a:r>
            <a:r>
              <a:rPr lang="en-US" dirty="0"/>
              <a:t> file to bam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A38B1-91B3-4A5B-A7BD-77CFF09BA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0888" y="1806499"/>
            <a:ext cx="3692912" cy="437046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EE3E31-9893-4539-AD78-6F6369FEE8D1}"/>
              </a:ext>
            </a:extLst>
          </p:cNvPr>
          <p:cNvSpPr txBox="1"/>
          <p:nvPr/>
        </p:nvSpPr>
        <p:spPr>
          <a:xfrm>
            <a:off x="838199" y="1111792"/>
            <a:ext cx="6521605" cy="507831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process </a:t>
            </a:r>
            <a:r>
              <a:rPr lang="en-US" altLang="zh-CN" dirty="0" err="1"/>
              <a:t>samtools</a:t>
            </a:r>
            <a:r>
              <a:rPr lang="en-US" altLang="zh-CN" dirty="0"/>
              <a:t>{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 err="1"/>
              <a:t>publishDir</a:t>
            </a:r>
            <a:r>
              <a:rPr lang="en-US" altLang="zh-CN" dirty="0"/>
              <a:t> "${out}"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input: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pl-PL" altLang="zh-CN" dirty="0"/>
              <a:t>file sam from sam_ch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output: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file "${</a:t>
            </a:r>
            <a:r>
              <a:rPr lang="en-US" altLang="zh-CN" dirty="0" err="1"/>
              <a:t>sam.baseName</a:t>
            </a:r>
            <a:r>
              <a:rPr lang="en-US" altLang="zh-CN" dirty="0"/>
              <a:t>}.bam" into </a:t>
            </a:r>
            <a:r>
              <a:rPr lang="en-US" altLang="zh-CN" dirty="0" err="1"/>
              <a:t>bam_ch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"""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echo "</a:t>
            </a:r>
            <a:r>
              <a:rPr lang="en-US" altLang="zh-CN" dirty="0" err="1"/>
              <a:t>samtools</a:t>
            </a:r>
            <a:r>
              <a:rPr lang="en-US" altLang="zh-CN" dirty="0"/>
              <a:t> sort -T ${</a:t>
            </a:r>
            <a:r>
              <a:rPr lang="en-US" altLang="zh-CN" dirty="0" err="1"/>
              <a:t>sam.baseName</a:t>
            </a:r>
            <a:r>
              <a:rPr lang="en-US" altLang="zh-CN" dirty="0"/>
              <a:t>}.tmp -o ${</a:t>
            </a:r>
            <a:r>
              <a:rPr lang="en-US" altLang="zh-CN" dirty="0" err="1"/>
              <a:t>sam.baseName</a:t>
            </a:r>
            <a:r>
              <a:rPr lang="en-US" altLang="zh-CN" dirty="0"/>
              <a:t>}.bam ${</a:t>
            </a:r>
            <a:r>
              <a:rPr lang="en-US" altLang="zh-CN" dirty="0" err="1"/>
              <a:t>sam</a:t>
            </a:r>
            <a:r>
              <a:rPr lang="en-US" altLang="zh-CN" dirty="0"/>
              <a:t>}"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 err="1"/>
              <a:t>samtools</a:t>
            </a:r>
            <a:r>
              <a:rPr lang="en-US" altLang="zh-CN" dirty="0"/>
              <a:t> sort -T ${</a:t>
            </a:r>
            <a:r>
              <a:rPr lang="en-US" altLang="zh-CN" dirty="0" err="1"/>
              <a:t>sam.baseName</a:t>
            </a:r>
            <a:r>
              <a:rPr lang="en-US" altLang="zh-CN" dirty="0"/>
              <a:t>}.tmp -o ${</a:t>
            </a:r>
            <a:r>
              <a:rPr lang="en-US" altLang="zh-CN" dirty="0" err="1"/>
              <a:t>sam.baseName</a:t>
            </a:r>
            <a:r>
              <a:rPr lang="en-US" altLang="zh-CN" dirty="0"/>
              <a:t>}.bam ${</a:t>
            </a:r>
            <a:r>
              <a:rPr lang="en-US" altLang="zh-CN" dirty="0" err="1"/>
              <a:t>sam</a:t>
            </a:r>
            <a:r>
              <a:rPr lang="en-US" altLang="zh-CN" dirty="0"/>
              <a:t>}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"""</a:t>
            </a:r>
            <a:endParaRPr lang="zh-CN" altLang="en-US" dirty="0"/>
          </a:p>
          <a:p>
            <a:r>
              <a:rPr lang="en-US" altLang="zh-CN" dirty="0"/>
              <a:t>}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47778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CEA76-FDEA-47B9-8DB1-244533F2A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50283"/>
            <a:ext cx="10515600" cy="861509"/>
          </a:xfrm>
        </p:spPr>
        <p:txBody>
          <a:bodyPr/>
          <a:lstStyle/>
          <a:p>
            <a:r>
              <a:rPr lang="en-US" dirty="0" err="1"/>
              <a:t>bcftools</a:t>
            </a:r>
            <a:r>
              <a:rPr lang="en-US" dirty="0"/>
              <a:t> conduct variants calling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A38B1-91B3-4A5B-A7BD-77CFF09BA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0480" y="5735729"/>
            <a:ext cx="7899400" cy="102584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EE3E31-9893-4539-AD78-6F6369FEE8D1}"/>
              </a:ext>
            </a:extLst>
          </p:cNvPr>
          <p:cNvSpPr txBox="1"/>
          <p:nvPr/>
        </p:nvSpPr>
        <p:spPr>
          <a:xfrm>
            <a:off x="1193799" y="1166842"/>
            <a:ext cx="9464041" cy="45243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process </a:t>
            </a:r>
            <a:r>
              <a:rPr lang="en-US" altLang="zh-CN" dirty="0" err="1"/>
              <a:t>bcftools</a:t>
            </a:r>
            <a:r>
              <a:rPr lang="en-US" altLang="zh-CN" dirty="0"/>
              <a:t>{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 err="1"/>
              <a:t>publishDir</a:t>
            </a:r>
            <a:r>
              <a:rPr lang="en-US" altLang="zh-CN" dirty="0"/>
              <a:t> "${out}"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input: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file ref from </a:t>
            </a:r>
            <a:r>
              <a:rPr lang="en-US" altLang="zh-CN" dirty="0" err="1"/>
              <a:t>ref_fa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pt-BR" altLang="zh-CN" dirty="0"/>
              <a:t>file bam from bam_ch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output: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file "${</a:t>
            </a:r>
            <a:r>
              <a:rPr lang="en-US" altLang="zh-CN" dirty="0" err="1"/>
              <a:t>bam.baseName</a:t>
            </a:r>
            <a:r>
              <a:rPr lang="en-US" altLang="zh-CN" dirty="0"/>
              <a:t>}.</a:t>
            </a:r>
            <a:r>
              <a:rPr lang="en-US" altLang="zh-CN" dirty="0" err="1"/>
              <a:t>bcf</a:t>
            </a:r>
            <a:r>
              <a:rPr lang="en-US" altLang="zh-CN" dirty="0"/>
              <a:t>" into </a:t>
            </a:r>
            <a:r>
              <a:rPr lang="en-US" altLang="zh-CN" dirty="0" err="1"/>
              <a:t>bcf_ch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"""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echo "</a:t>
            </a:r>
            <a:r>
              <a:rPr lang="en-US" altLang="zh-CN" dirty="0" err="1"/>
              <a:t>bcftools</a:t>
            </a:r>
            <a:r>
              <a:rPr lang="en-US" altLang="zh-CN" dirty="0"/>
              <a:t> </a:t>
            </a:r>
            <a:r>
              <a:rPr lang="en-US" altLang="zh-CN" dirty="0" err="1"/>
              <a:t>mpileup</a:t>
            </a:r>
            <a:r>
              <a:rPr lang="en-US" altLang="zh-CN" dirty="0"/>
              <a:t> -f ${ref} ${bam} | </a:t>
            </a:r>
            <a:r>
              <a:rPr lang="en-US" altLang="zh-CN" dirty="0" err="1"/>
              <a:t>bcftools</a:t>
            </a:r>
            <a:r>
              <a:rPr lang="en-US" altLang="zh-CN" dirty="0"/>
              <a:t> call -mv -Ob -o ${</a:t>
            </a:r>
            <a:r>
              <a:rPr lang="en-US" altLang="zh-CN" dirty="0" err="1"/>
              <a:t>bam.baseName</a:t>
            </a:r>
            <a:r>
              <a:rPr lang="en-US" altLang="zh-CN" dirty="0"/>
              <a:t>}.</a:t>
            </a:r>
            <a:r>
              <a:rPr lang="en-US" altLang="zh-CN" dirty="0" err="1"/>
              <a:t>bcf</a:t>
            </a:r>
            <a:r>
              <a:rPr lang="en-US" altLang="zh-CN" dirty="0"/>
              <a:t>"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 err="1"/>
              <a:t>bcftools</a:t>
            </a:r>
            <a:r>
              <a:rPr lang="en-US" altLang="zh-CN" dirty="0"/>
              <a:t> </a:t>
            </a:r>
            <a:r>
              <a:rPr lang="en-US" altLang="zh-CN" dirty="0" err="1"/>
              <a:t>mpileup</a:t>
            </a:r>
            <a:r>
              <a:rPr lang="en-US" altLang="zh-CN" dirty="0"/>
              <a:t> -f ${ref} ${bam} | </a:t>
            </a:r>
            <a:r>
              <a:rPr lang="en-US" altLang="zh-CN" dirty="0" err="1"/>
              <a:t>bcftools</a:t>
            </a:r>
            <a:r>
              <a:rPr lang="en-US" altLang="zh-CN" dirty="0"/>
              <a:t> call -mv -Ob -o ${</a:t>
            </a:r>
            <a:r>
              <a:rPr lang="en-US" altLang="zh-CN" dirty="0" err="1"/>
              <a:t>bam.baseName</a:t>
            </a:r>
            <a:r>
              <a:rPr lang="en-US" altLang="zh-CN" dirty="0"/>
              <a:t>}.</a:t>
            </a:r>
            <a:r>
              <a:rPr lang="en-US" altLang="zh-CN" dirty="0" err="1"/>
              <a:t>bcf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"""</a:t>
            </a:r>
            <a:endParaRPr lang="zh-CN" altLang="en-US" dirty="0"/>
          </a:p>
          <a:p>
            <a:r>
              <a:rPr lang="en-US" altLang="zh-CN" dirty="0"/>
              <a:t>}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43657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4CD3A-3645-41FA-AADA-5B23BBF94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Integral testing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5B0B75-0A43-4D26-96C3-2BC1090998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17"/>
          <a:stretch/>
        </p:blipFill>
        <p:spPr>
          <a:xfrm>
            <a:off x="0" y="1290320"/>
            <a:ext cx="12192000" cy="5294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58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2384</Words>
  <Application>Microsoft Office PowerPoint</Application>
  <PresentationFormat>Widescreen</PresentationFormat>
  <Paragraphs>333</Paragraphs>
  <Slides>36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Calibri Light</vt:lpstr>
      <vt:lpstr>Office Theme</vt:lpstr>
      <vt:lpstr>Practice in Design and Implementation of Nextflow Pipeline</vt:lpstr>
      <vt:lpstr>Outline</vt:lpstr>
      <vt:lpstr>What is NextFlow?</vt:lpstr>
      <vt:lpstr>What do a NextFlow script look like?</vt:lpstr>
      <vt:lpstr>NextFlow: Channel and Process</vt:lpstr>
      <vt:lpstr>Why we talk about “topology”</vt:lpstr>
      <vt:lpstr>A single-process pipeline</vt:lpstr>
      <vt:lpstr>Sequential Processes</vt:lpstr>
      <vt:lpstr>Concurrent Processes</vt:lpstr>
      <vt:lpstr>Hybrid Processes: mRNA-seq analytic pipeline</vt:lpstr>
      <vt:lpstr>Strategy of developing Nextflow pipeline</vt:lpstr>
      <vt:lpstr>Advantages of NextFlow</vt:lpstr>
      <vt:lpstr>Weakness of NextFlow</vt:lpstr>
      <vt:lpstr>Steps of developing NextFlow pipeline</vt:lpstr>
      <vt:lpstr>Requirement analysis</vt:lpstr>
      <vt:lpstr>Create a repository as a starting point</vt:lpstr>
      <vt:lpstr>White-box testing</vt:lpstr>
      <vt:lpstr>Unit testing: test make db process</vt:lpstr>
      <vt:lpstr>Unit testing: test alignment process</vt:lpstr>
      <vt:lpstr>Integral Testing: blast.nf on blastn</vt:lpstr>
      <vt:lpstr>Integral Testing: blast.nf on blastp</vt:lpstr>
      <vt:lpstr>Sequence aligner: Bowtie</vt:lpstr>
      <vt:lpstr>Topology of nextflow pipeline</vt:lpstr>
      <vt:lpstr>Unit Testing</vt:lpstr>
      <vt:lpstr>Test functions of picking files</vt:lpstr>
      <vt:lpstr>Nextflow process for building index</vt:lpstr>
      <vt:lpstr>Sequence alignment</vt:lpstr>
      <vt:lpstr>Integral testing on all pipeline</vt:lpstr>
      <vt:lpstr>Integral Testing</vt:lpstr>
      <vt:lpstr>Topology of the VC pipeline</vt:lpstr>
      <vt:lpstr>Bowtie2 -&gt; samtools -&gt; bcftools</vt:lpstr>
      <vt:lpstr>Unit Testing</vt:lpstr>
      <vt:lpstr>Pick up input files</vt:lpstr>
      <vt:lpstr>Samtools convert sam file to bam file</vt:lpstr>
      <vt:lpstr>bcftools conduct variants calling</vt:lpstr>
      <vt:lpstr>Integral testing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Bioinformatics Workflow Engine: NextFlow</dc:title>
  <dc:creator>Tiezheng Yuan</dc:creator>
  <cp:lastModifiedBy>Tiezheng Yuan</cp:lastModifiedBy>
  <cp:revision>21</cp:revision>
  <dcterms:created xsi:type="dcterms:W3CDTF">2020-01-31T14:45:26Z</dcterms:created>
  <dcterms:modified xsi:type="dcterms:W3CDTF">2020-03-25T01:57:31Z</dcterms:modified>
</cp:coreProperties>
</file>